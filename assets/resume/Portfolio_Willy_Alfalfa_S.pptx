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2563EB"/>
          </a:solidFill>
          <a:ln/>
        </p:spPr>
      </p:sp>
      <p:sp>
        <p:nvSpPr>
          <p:cNvPr id="3" name="Text 1"/>
          <p:cNvSpPr/>
          <p:nvPr/>
        </p:nvSpPr>
        <p:spPr>
          <a:xfrm>
            <a:off x="731520" y="1645920"/>
            <a:ext cx="7315200" cy="914400"/>
          </a:xfrm>
          <a:prstGeom prst="rect">
            <a:avLst/>
          </a:prstGeom>
          <a:noFill/>
          <a:ln/>
        </p:spPr>
        <p:txBody>
          <a:bodyPr wrap="square" rtlCol="0" anchor="ctr"/>
          <a:lstStyle/>
          <a:p>
            <a:pPr algn="l" indent="0" marL="0">
              <a:buNone/>
            </a:pPr>
            <a:r>
              <a:rPr lang="en-US" sz="4000" b="1" dirty="0">
                <a:solidFill>
                  <a:srgbClr val="FFFFFF"/>
                </a:solidFill>
                <a:latin typeface="Segoe UI" pitchFamily="34" charset="0"/>
                <a:ea typeface="Segoe UI" pitchFamily="34" charset="-122"/>
                <a:cs typeface="Segoe UI" pitchFamily="34" charset="-120"/>
              </a:rPr>
              <a:t>Willy Alfalfa S</a:t>
            </a:r>
            <a:endParaRPr lang="en-US" sz="4000" dirty="0"/>
          </a:p>
        </p:txBody>
      </p:sp>
      <p:sp>
        <p:nvSpPr>
          <p:cNvPr id="4" name="Text 2"/>
          <p:cNvSpPr/>
          <p:nvPr/>
        </p:nvSpPr>
        <p:spPr>
          <a:xfrm>
            <a:off x="731520" y="2514600"/>
            <a:ext cx="7315200" cy="457200"/>
          </a:xfrm>
          <a:prstGeom prst="rect">
            <a:avLst/>
          </a:prstGeom>
          <a:noFill/>
          <a:ln/>
        </p:spPr>
        <p:txBody>
          <a:bodyPr wrap="square" rtlCol="0" anchor="ctr"/>
          <a:lstStyle/>
          <a:p>
            <a:pPr algn="l" indent="0" marL="0">
              <a:buNone/>
            </a:pPr>
            <a:r>
              <a:rPr lang="en-US" sz="1600" dirty="0">
                <a:solidFill>
                  <a:srgbClr val="94A3B8"/>
                </a:solidFill>
                <a:latin typeface="Segoe UI" pitchFamily="34" charset="0"/>
                <a:ea typeface="Segoe UI" pitchFamily="34" charset="-122"/>
                <a:cs typeface="Segoe UI" pitchFamily="34" charset="-120"/>
              </a:rPr>
              <a:t>Mahasiswa S1 Sistem Teknologi Informasi &amp; Lulusan Multimedia</a:t>
            </a:r>
            <a:endParaRPr lang="en-US" sz="1600" dirty="0"/>
          </a:p>
        </p:txBody>
      </p:sp>
      <p:sp>
        <p:nvSpPr>
          <p:cNvPr id="5" name="Shape 3"/>
          <p:cNvSpPr/>
          <p:nvPr/>
        </p:nvSpPr>
        <p:spPr>
          <a:xfrm>
            <a:off x="731520" y="3200400"/>
            <a:ext cx="1828800" cy="36576"/>
          </a:xfrm>
          <a:prstGeom prst="rect">
            <a:avLst/>
          </a:prstGeom>
          <a:solidFill>
            <a:srgbClr val="2563EB"/>
          </a:solidFill>
          <a:ln/>
        </p:spPr>
      </p:sp>
      <p:sp>
        <p:nvSpPr>
          <p:cNvPr id="6" name="Text 4"/>
          <p:cNvSpPr/>
          <p:nvPr/>
        </p:nvSpPr>
        <p:spPr>
          <a:xfrm>
            <a:off x="731520" y="3474720"/>
            <a:ext cx="5486400" cy="1463040"/>
          </a:xfrm>
          <a:prstGeom prst="rect">
            <a:avLst/>
          </a:prstGeom>
          <a:noFill/>
          <a:ln/>
        </p:spPr>
        <p:txBody>
          <a:bodyPr wrap="square" rtlCol="0" anchor="ctr"/>
          <a:lstStyle/>
          <a:p>
            <a:pPr indent="0" marL="0">
              <a:lnSpc>
                <a:spcPct val="150000"/>
              </a:lnSpc>
              <a:buNone/>
            </a:pPr>
            <a:r>
              <a:rPr lang="en-US" sz="1200" dirty="0">
                <a:solidFill>
                  <a:srgbClr val="94A3B8"/>
                </a:solidFill>
                <a:latin typeface="Segoe UI" pitchFamily="34" charset="0"/>
                <a:ea typeface="Segoe UI" pitchFamily="34" charset="-122"/>
                <a:cs typeface="Segoe UI" pitchFamily="34" charset="-120"/>
              </a:rPr>
              <a:t>📧  Willyalfalfa0203@gmail.com</a:t>
            </a:r>
            <a:endParaRPr lang="en-US" sz="1200" dirty="0"/>
          </a:p>
          <a:p>
            <a:pPr indent="0" marL="0">
              <a:lnSpc>
                <a:spcPct val="150000"/>
              </a:lnSpc>
              <a:buNone/>
            </a:pPr>
            <a:r>
              <a:rPr lang="en-US" sz="1200" dirty="0">
                <a:solidFill>
                  <a:srgbClr val="94A3B8"/>
                </a:solidFill>
                <a:latin typeface="Segoe UI" pitchFamily="34" charset="0"/>
                <a:ea typeface="Segoe UI" pitchFamily="34" charset="-122"/>
                <a:cs typeface="Segoe UI" pitchFamily="34" charset="-120"/>
              </a:rPr>
              <a:t>📱  (+62) 858-9990-2707</a:t>
            </a:r>
            <a:endParaRPr lang="en-US" sz="1200" dirty="0"/>
          </a:p>
          <a:p>
            <a:pPr indent="0" marL="0">
              <a:lnSpc>
                <a:spcPct val="150000"/>
              </a:lnSpc>
              <a:buNone/>
            </a:pPr>
            <a:r>
              <a:rPr lang="en-US" sz="1200" dirty="0">
                <a:solidFill>
                  <a:srgbClr val="94A3B8"/>
                </a:solidFill>
                <a:latin typeface="Segoe UI" pitchFamily="34" charset="0"/>
                <a:ea typeface="Segoe UI" pitchFamily="34" charset="-122"/>
                <a:cs typeface="Segoe UI" pitchFamily="34" charset="-120"/>
              </a:rPr>
              <a:t>📍  Jakarta Timur, DKI Jakarta</a:t>
            </a:r>
            <a:endParaRPr lang="en-US" sz="1200" dirty="0"/>
          </a:p>
          <a:p>
            <a:pPr indent="0" marL="0">
              <a:lnSpc>
                <a:spcPct val="150000"/>
              </a:lnSpc>
              <a:buNone/>
            </a:pPr>
            <a:r>
              <a:rPr lang="en-US" sz="1200" dirty="0">
                <a:solidFill>
                  <a:srgbClr val="94A3B8"/>
                </a:solidFill>
                <a:latin typeface="Segoe UI" pitchFamily="34" charset="0"/>
                <a:ea typeface="Segoe UI" pitchFamily="34" charset="-122"/>
                <a:cs typeface="Segoe UI" pitchFamily="34" charset="-120"/>
              </a:rPr>
              <a:t>🔗  github.com/Welly-23</a:t>
            </a:r>
            <a:endParaRPr lang="en-US" sz="1200" dirty="0"/>
          </a:p>
        </p:txBody>
      </p:sp>
      <p:sp>
        <p:nvSpPr>
          <p:cNvPr id="7" name="Text 5"/>
          <p:cNvSpPr/>
          <p:nvPr/>
        </p:nvSpPr>
        <p:spPr>
          <a:xfrm>
            <a:off x="731520" y="5852160"/>
            <a:ext cx="4572000" cy="274320"/>
          </a:xfrm>
          <a:prstGeom prst="rect">
            <a:avLst/>
          </a:prstGeom>
          <a:noFill/>
          <a:ln/>
        </p:spPr>
        <p:txBody>
          <a:bodyPr wrap="square" rtlCol="0" anchor="ctr"/>
          <a:lstStyle/>
          <a:p>
            <a:pPr indent="0" marL="0">
              <a:buNone/>
            </a:pPr>
            <a:r>
              <a:rPr lang="en-US" sz="1000" b="1" dirty="0">
                <a:solidFill>
                  <a:srgbClr val="2563EB"/>
                </a:solidFill>
                <a:latin typeface="Segoe UI" pitchFamily="34" charset="0"/>
                <a:ea typeface="Segoe UI" pitchFamily="34" charset="-122"/>
                <a:cs typeface="Segoe UI" pitchFamily="34" charset="-120"/>
              </a:rPr>
              <a:t>CURRICULUM VITAE &amp; PORTFOLIO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2563EB"/>
          </a:solidFill>
          <a:ln/>
        </p:spPr>
      </p:sp>
      <p:sp>
        <p:nvSpPr>
          <p:cNvPr id="3" name="Text 1"/>
          <p:cNvSpPr/>
          <p:nvPr/>
        </p:nvSpPr>
        <p:spPr>
          <a:xfrm>
            <a:off x="640080" y="365760"/>
            <a:ext cx="4572000" cy="457200"/>
          </a:xfrm>
          <a:prstGeom prst="rect">
            <a:avLst/>
          </a:prstGeom>
          <a:noFill/>
          <a:ln/>
        </p:spPr>
        <p:txBody>
          <a:bodyPr wrap="square" rtlCol="0" anchor="ctr"/>
          <a:lstStyle/>
          <a:p>
            <a:pPr indent="0" marL="0">
              <a:buNone/>
            </a:pPr>
            <a:r>
              <a:rPr lang="en-US" sz="2400" b="1" dirty="0">
                <a:solidFill>
                  <a:srgbClr val="0F172A"/>
                </a:solidFill>
                <a:latin typeface="Segoe UI" pitchFamily="34" charset="0"/>
                <a:ea typeface="Segoe UI" pitchFamily="34" charset="-122"/>
                <a:cs typeface="Segoe UI" pitchFamily="34" charset="-120"/>
              </a:rPr>
              <a:t>Tentang Saya</a:t>
            </a:r>
            <a:endParaRPr lang="en-US" sz="2400" dirty="0"/>
          </a:p>
        </p:txBody>
      </p:sp>
      <p:sp>
        <p:nvSpPr>
          <p:cNvPr id="4" name="Shape 2"/>
          <p:cNvSpPr/>
          <p:nvPr/>
        </p:nvSpPr>
        <p:spPr>
          <a:xfrm>
            <a:off x="640080" y="868680"/>
            <a:ext cx="1097280" cy="36576"/>
          </a:xfrm>
          <a:prstGeom prst="rect">
            <a:avLst/>
          </a:prstGeom>
          <a:solidFill>
            <a:srgbClr val="2563EB"/>
          </a:solidFill>
          <a:ln/>
        </p:spPr>
      </p:sp>
      <p:sp>
        <p:nvSpPr>
          <p:cNvPr id="5" name="Text 3"/>
          <p:cNvSpPr/>
          <p:nvPr/>
        </p:nvSpPr>
        <p:spPr>
          <a:xfrm>
            <a:off x="640080" y="1188720"/>
            <a:ext cx="10515600" cy="1828800"/>
          </a:xfrm>
          <a:prstGeom prst="rect">
            <a:avLst/>
          </a:prstGeom>
          <a:noFill/>
          <a:ln/>
        </p:spPr>
        <p:txBody>
          <a:bodyPr wrap="square" rtlCol="0" anchor="t"/>
          <a:lstStyle/>
          <a:p>
            <a:pPr indent="0" marL="0">
              <a:lnSpc>
                <a:spcPct val="150000"/>
              </a:lnSpc>
              <a:buNone/>
            </a:pPr>
            <a:r>
              <a:rPr lang="en-US" sz="1300" dirty="0">
                <a:solidFill>
                  <a:srgbClr val="475569"/>
                </a:solidFill>
                <a:latin typeface="Segoe UI" pitchFamily="34" charset="0"/>
                <a:ea typeface="Segoe UI" pitchFamily="34" charset="-122"/>
                <a:cs typeface="Segoe UI" pitchFamily="34" charset="-120"/>
              </a:rPr>
              <a:t>Saya adalah pribadi yang mudah beradaptasi, bertanggung jawab, dan memiliki semangat belajar yang tinggi. Seorang mahasiswa Sistem Teknologi Informasi yang memiliki ketertarikan pada dunia teknologi, khususnya pengembangan website dan solusi digital.</a:t>
            </a:r>
            <a:endParaRPr lang="en-US" sz="1300" dirty="0"/>
          </a:p>
          <a:p>
            <a:pPr indent="0" marL="0">
              <a:lnSpc>
                <a:spcPct val="150000"/>
              </a:lnSpc>
              <a:buNone/>
            </a:pPr>
            <a:endParaRPr lang="en-US" sz="1300" dirty="0"/>
          </a:p>
          <a:p>
            <a:pPr indent="0" marL="0">
              <a:lnSpc>
                <a:spcPct val="150000"/>
              </a:lnSpc>
              <a:buNone/>
            </a:pPr>
            <a:r>
              <a:rPr lang="en-US" sz="1300" dirty="0">
                <a:solidFill>
                  <a:srgbClr val="475569"/>
                </a:solidFill>
                <a:latin typeface="Segoe UI" pitchFamily="34" charset="0"/>
                <a:ea typeface="Segoe UI" pitchFamily="34" charset="-122"/>
                <a:cs typeface="Segoe UI" pitchFamily="34" charset="-120"/>
              </a:rPr>
              <a:t>Selama proses belajar, saya terbiasa menyelesaikan berbagai tugas secara mandiri maupun bersama tim. Saya percaya bahwa setiap pengalaman merupakan kesempatan untuk terus berkembang, baik dari sisi kemampuan teknis maupun soft skills.</a:t>
            </a:r>
            <a:endParaRPr lang="en-US" sz="1300" dirty="0"/>
          </a:p>
        </p:txBody>
      </p:sp>
      <p:sp>
        <p:nvSpPr>
          <p:cNvPr id="6" name="Shape 4"/>
          <p:cNvSpPr/>
          <p:nvPr/>
        </p:nvSpPr>
        <p:spPr>
          <a:xfrm>
            <a:off x="640080" y="3383280"/>
            <a:ext cx="3200400" cy="2560320"/>
          </a:xfrm>
          <a:prstGeom prst="roundRect">
            <a:avLst>
              <a:gd name="adj" fmla="val 3571"/>
            </a:avLst>
          </a:prstGeom>
          <a:solidFill>
            <a:srgbClr val="F8FAFC"/>
          </a:solidFill>
          <a:ln w="12700">
            <a:solidFill>
              <a:srgbClr val="E2E8F0"/>
            </a:solidFill>
            <a:prstDash val="solid"/>
          </a:ln>
        </p:spPr>
      </p:sp>
      <p:sp>
        <p:nvSpPr>
          <p:cNvPr id="7" name="Text 5"/>
          <p:cNvSpPr/>
          <p:nvPr/>
        </p:nvSpPr>
        <p:spPr>
          <a:xfrm>
            <a:off x="914400" y="3566160"/>
            <a:ext cx="2651760" cy="274320"/>
          </a:xfrm>
          <a:prstGeom prst="rect">
            <a:avLst/>
          </a:prstGeom>
          <a:noFill/>
          <a:ln/>
        </p:spPr>
        <p:txBody>
          <a:bodyPr wrap="square" rtlCol="0" anchor="ctr"/>
          <a:lstStyle/>
          <a:p>
            <a:pPr indent="0" marL="0">
              <a:buNone/>
            </a:pPr>
            <a:r>
              <a:rPr lang="en-US" sz="900" b="1" dirty="0">
                <a:solidFill>
                  <a:srgbClr val="2563EB"/>
                </a:solidFill>
                <a:latin typeface="Segoe UI" pitchFamily="34" charset="0"/>
                <a:ea typeface="Segoe UI" pitchFamily="34" charset="-122"/>
                <a:cs typeface="Segoe UI" pitchFamily="34" charset="-120"/>
              </a:rPr>
              <a:t>PENDIDIKAN</a:t>
            </a:r>
            <a:endParaRPr lang="en-US" sz="900" dirty="0"/>
          </a:p>
        </p:txBody>
      </p:sp>
      <p:sp>
        <p:nvSpPr>
          <p:cNvPr id="8" name="Text 6"/>
          <p:cNvSpPr/>
          <p:nvPr/>
        </p:nvSpPr>
        <p:spPr>
          <a:xfrm>
            <a:off x="914400" y="3931920"/>
            <a:ext cx="2651760" cy="45720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S1 Aktif</a:t>
            </a:r>
            <a:endParaRPr lang="en-US" sz="2200" dirty="0"/>
          </a:p>
        </p:txBody>
      </p:sp>
      <p:sp>
        <p:nvSpPr>
          <p:cNvPr id="9" name="Text 7"/>
          <p:cNvSpPr/>
          <p:nvPr/>
        </p:nvSpPr>
        <p:spPr>
          <a:xfrm>
            <a:off x="914400" y="4572000"/>
            <a:ext cx="2651760" cy="914400"/>
          </a:xfrm>
          <a:prstGeom prst="rect">
            <a:avLst/>
          </a:prstGeom>
          <a:noFill/>
          <a:ln/>
        </p:spPr>
        <p:txBody>
          <a:bodyPr wrap="square" rtlCol="0" anchor="ctr"/>
          <a:lstStyle/>
          <a:p>
            <a:pPr indent="0" marL="0">
              <a:lnSpc>
                <a:spcPct val="130000"/>
              </a:lnSpc>
              <a:buNone/>
            </a:pPr>
            <a:r>
              <a:rPr lang="en-US" sz="1100" dirty="0">
                <a:solidFill>
                  <a:srgbClr val="475569"/>
                </a:solidFill>
                <a:latin typeface="Segoe UI" pitchFamily="34" charset="0"/>
                <a:ea typeface="Segoe UI" pitchFamily="34" charset="-122"/>
                <a:cs typeface="Segoe UI" pitchFamily="34" charset="-120"/>
              </a:rPr>
              <a:t>Sistem Teknologi Informasi</a:t>
            </a:r>
            <a:endParaRPr lang="en-US" sz="1100" dirty="0"/>
          </a:p>
          <a:p>
            <a:pPr indent="0" marL="0">
              <a:lnSpc>
                <a:spcPct val="130000"/>
              </a:lnSpc>
              <a:buNone/>
            </a:pPr>
            <a:r>
              <a:rPr lang="en-US" sz="1100" dirty="0">
                <a:solidFill>
                  <a:srgbClr val="475569"/>
                </a:solidFill>
                <a:latin typeface="Segoe UI" pitchFamily="34" charset="0"/>
                <a:ea typeface="Segoe UI" pitchFamily="34" charset="-122"/>
                <a:cs typeface="Segoe UI" pitchFamily="34" charset="-120"/>
              </a:rPr>
              <a:t>Universitas Cakrawala</a:t>
            </a:r>
            <a:endParaRPr lang="en-US" sz="1100" dirty="0"/>
          </a:p>
        </p:txBody>
      </p:sp>
      <p:sp>
        <p:nvSpPr>
          <p:cNvPr id="10" name="Shape 8"/>
          <p:cNvSpPr/>
          <p:nvPr/>
        </p:nvSpPr>
        <p:spPr>
          <a:xfrm>
            <a:off x="4206240" y="3383280"/>
            <a:ext cx="3200400" cy="2560320"/>
          </a:xfrm>
          <a:prstGeom prst="roundRect">
            <a:avLst>
              <a:gd name="adj" fmla="val 3571"/>
            </a:avLst>
          </a:prstGeom>
          <a:solidFill>
            <a:srgbClr val="F8FAFC"/>
          </a:solidFill>
          <a:ln w="12700">
            <a:solidFill>
              <a:srgbClr val="E2E8F0"/>
            </a:solidFill>
            <a:prstDash val="solid"/>
          </a:ln>
        </p:spPr>
      </p:sp>
      <p:sp>
        <p:nvSpPr>
          <p:cNvPr id="11" name="Text 9"/>
          <p:cNvSpPr/>
          <p:nvPr/>
        </p:nvSpPr>
        <p:spPr>
          <a:xfrm>
            <a:off x="4480560" y="3566160"/>
            <a:ext cx="2651760" cy="274320"/>
          </a:xfrm>
          <a:prstGeom prst="rect">
            <a:avLst/>
          </a:prstGeom>
          <a:noFill/>
          <a:ln/>
        </p:spPr>
        <p:txBody>
          <a:bodyPr wrap="square" rtlCol="0" anchor="ctr"/>
          <a:lstStyle/>
          <a:p>
            <a:pPr indent="0" marL="0">
              <a:buNone/>
            </a:pPr>
            <a:r>
              <a:rPr lang="en-US" sz="900" b="1" dirty="0">
                <a:solidFill>
                  <a:srgbClr val="7C3AED"/>
                </a:solidFill>
                <a:latin typeface="Segoe UI" pitchFamily="34" charset="0"/>
                <a:ea typeface="Segoe UI" pitchFamily="34" charset="-122"/>
                <a:cs typeface="Segoe UI" pitchFamily="34" charset="-120"/>
              </a:rPr>
              <a:t>PENGALAMAN</a:t>
            </a:r>
            <a:endParaRPr lang="en-US" sz="900" dirty="0"/>
          </a:p>
        </p:txBody>
      </p:sp>
      <p:sp>
        <p:nvSpPr>
          <p:cNvPr id="12" name="Text 10"/>
          <p:cNvSpPr/>
          <p:nvPr/>
        </p:nvSpPr>
        <p:spPr>
          <a:xfrm>
            <a:off x="4480560" y="3931920"/>
            <a:ext cx="2651760" cy="45720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2 Posisi</a:t>
            </a:r>
            <a:endParaRPr lang="en-US" sz="2200" dirty="0"/>
          </a:p>
        </p:txBody>
      </p:sp>
      <p:sp>
        <p:nvSpPr>
          <p:cNvPr id="13" name="Text 11"/>
          <p:cNvSpPr/>
          <p:nvPr/>
        </p:nvSpPr>
        <p:spPr>
          <a:xfrm>
            <a:off x="4480560" y="4572000"/>
            <a:ext cx="2651760" cy="914400"/>
          </a:xfrm>
          <a:prstGeom prst="rect">
            <a:avLst/>
          </a:prstGeom>
          <a:noFill/>
          <a:ln/>
        </p:spPr>
        <p:txBody>
          <a:bodyPr wrap="square" rtlCol="0" anchor="ctr"/>
          <a:lstStyle/>
          <a:p>
            <a:pPr indent="0" marL="0">
              <a:lnSpc>
                <a:spcPct val="130000"/>
              </a:lnSpc>
              <a:buNone/>
            </a:pPr>
            <a:r>
              <a:rPr lang="en-US" sz="1100" dirty="0">
                <a:solidFill>
                  <a:srgbClr val="475569"/>
                </a:solidFill>
                <a:latin typeface="Segoe UI" pitchFamily="34" charset="0"/>
                <a:ea typeface="Segoe UI" pitchFamily="34" charset="-122"/>
                <a:cs typeface="Segoe UI" pitchFamily="34" charset="-120"/>
              </a:rPr>
              <a:t>Operasional Toko Plastik</a:t>
            </a:r>
            <a:endParaRPr lang="en-US" sz="1100" dirty="0"/>
          </a:p>
          <a:p>
            <a:pPr indent="0" marL="0">
              <a:lnSpc>
                <a:spcPct val="130000"/>
              </a:lnSpc>
              <a:buNone/>
            </a:pPr>
            <a:r>
              <a:rPr lang="en-US" sz="1100" dirty="0">
                <a:solidFill>
                  <a:srgbClr val="475569"/>
                </a:solidFill>
                <a:latin typeface="Segoe UI" pitchFamily="34" charset="0"/>
                <a:ea typeface="Segoe UI" pitchFamily="34" charset="-122"/>
                <a:cs typeface="Segoe UI" pitchFamily="34" charset="-120"/>
              </a:rPr>
              <a:t>&amp; PKL Perpustakaan JGU</a:t>
            </a:r>
            <a:endParaRPr lang="en-US" sz="1100" dirty="0"/>
          </a:p>
        </p:txBody>
      </p:sp>
      <p:sp>
        <p:nvSpPr>
          <p:cNvPr id="14" name="Shape 12"/>
          <p:cNvSpPr/>
          <p:nvPr/>
        </p:nvSpPr>
        <p:spPr>
          <a:xfrm>
            <a:off x="7772400" y="3383280"/>
            <a:ext cx="3200400" cy="2560320"/>
          </a:xfrm>
          <a:prstGeom prst="roundRect">
            <a:avLst>
              <a:gd name="adj" fmla="val 3571"/>
            </a:avLst>
          </a:prstGeom>
          <a:solidFill>
            <a:srgbClr val="F8FAFC"/>
          </a:solidFill>
          <a:ln w="12700">
            <a:solidFill>
              <a:srgbClr val="E2E8F0"/>
            </a:solidFill>
            <a:prstDash val="solid"/>
          </a:ln>
        </p:spPr>
      </p:sp>
      <p:sp>
        <p:nvSpPr>
          <p:cNvPr id="15" name="Text 13"/>
          <p:cNvSpPr/>
          <p:nvPr/>
        </p:nvSpPr>
        <p:spPr>
          <a:xfrm>
            <a:off x="8046720" y="3566160"/>
            <a:ext cx="2651760" cy="274320"/>
          </a:xfrm>
          <a:prstGeom prst="rect">
            <a:avLst/>
          </a:prstGeom>
          <a:noFill/>
          <a:ln/>
        </p:spPr>
        <p:txBody>
          <a:bodyPr wrap="square" rtlCol="0" anchor="ctr"/>
          <a:lstStyle/>
          <a:p>
            <a:pPr indent="0" marL="0">
              <a:buNone/>
            </a:pPr>
            <a:r>
              <a:rPr lang="en-US" sz="900" b="1" dirty="0">
                <a:solidFill>
                  <a:srgbClr val="059669"/>
                </a:solidFill>
                <a:latin typeface="Segoe UI" pitchFamily="34" charset="0"/>
                <a:ea typeface="Segoe UI" pitchFamily="34" charset="-122"/>
                <a:cs typeface="Segoe UI" pitchFamily="34" charset="-120"/>
              </a:rPr>
              <a:t>SERTIFIKASI</a:t>
            </a:r>
            <a:endParaRPr lang="en-US" sz="900" dirty="0"/>
          </a:p>
        </p:txBody>
      </p:sp>
      <p:sp>
        <p:nvSpPr>
          <p:cNvPr id="16" name="Text 14"/>
          <p:cNvSpPr/>
          <p:nvPr/>
        </p:nvSpPr>
        <p:spPr>
          <a:xfrm>
            <a:off x="8046720" y="3931920"/>
            <a:ext cx="2651760" cy="45720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2 Resmi</a:t>
            </a:r>
            <a:endParaRPr lang="en-US" sz="2200" dirty="0"/>
          </a:p>
        </p:txBody>
      </p:sp>
      <p:sp>
        <p:nvSpPr>
          <p:cNvPr id="17" name="Text 15"/>
          <p:cNvSpPr/>
          <p:nvPr/>
        </p:nvSpPr>
        <p:spPr>
          <a:xfrm>
            <a:off x="8046720" y="4572000"/>
            <a:ext cx="2651760" cy="914400"/>
          </a:xfrm>
          <a:prstGeom prst="rect">
            <a:avLst/>
          </a:prstGeom>
          <a:noFill/>
          <a:ln/>
        </p:spPr>
        <p:txBody>
          <a:bodyPr wrap="square" rtlCol="0" anchor="ctr"/>
          <a:lstStyle/>
          <a:p>
            <a:pPr indent="0" marL="0">
              <a:lnSpc>
                <a:spcPct val="130000"/>
              </a:lnSpc>
              <a:buNone/>
            </a:pPr>
            <a:r>
              <a:rPr lang="en-US" sz="1100" dirty="0">
                <a:solidFill>
                  <a:srgbClr val="475569"/>
                </a:solidFill>
                <a:latin typeface="Segoe UI" pitchFamily="34" charset="0"/>
                <a:ea typeface="Segoe UI" pitchFamily="34" charset="-122"/>
                <a:cs typeface="Segoe UI" pitchFamily="34" charset="-120"/>
              </a:rPr>
              <a:t>Kompetensi DKV &amp;</a:t>
            </a:r>
            <a:endParaRPr lang="en-US" sz="1100" dirty="0"/>
          </a:p>
          <a:p>
            <a:pPr indent="0" marL="0">
              <a:lnSpc>
                <a:spcPct val="130000"/>
              </a:lnSpc>
              <a:buNone/>
            </a:pPr>
            <a:r>
              <a:rPr lang="en-US" sz="1100" dirty="0">
                <a:solidFill>
                  <a:srgbClr val="475569"/>
                </a:solidFill>
                <a:latin typeface="Segoe UI" pitchFamily="34" charset="0"/>
                <a:ea typeface="Segoe UI" pitchFamily="34" charset="-122"/>
                <a:cs typeface="Segoe UI" pitchFamily="34" charset="-120"/>
              </a:rPr>
              <a:t>Sertifikat PKL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2563EB"/>
          </a:solidFill>
          <a:ln/>
        </p:spPr>
      </p:sp>
      <p:sp>
        <p:nvSpPr>
          <p:cNvPr id="3" name="Text 1"/>
          <p:cNvSpPr/>
          <p:nvPr/>
        </p:nvSpPr>
        <p:spPr>
          <a:xfrm>
            <a:off x="640080" y="365760"/>
            <a:ext cx="4572000" cy="457200"/>
          </a:xfrm>
          <a:prstGeom prst="rect">
            <a:avLst/>
          </a:prstGeom>
          <a:noFill/>
          <a:ln/>
        </p:spPr>
        <p:txBody>
          <a:bodyPr wrap="square" rtlCol="0" anchor="ctr"/>
          <a:lstStyle/>
          <a:p>
            <a:pPr indent="0" marL="0">
              <a:buNone/>
            </a:pPr>
            <a:r>
              <a:rPr lang="en-US" sz="2400" b="1" dirty="0">
                <a:solidFill>
                  <a:srgbClr val="0F172A"/>
                </a:solidFill>
                <a:latin typeface="Segoe UI" pitchFamily="34" charset="0"/>
                <a:ea typeface="Segoe UI" pitchFamily="34" charset="-122"/>
                <a:cs typeface="Segoe UI" pitchFamily="34" charset="-120"/>
              </a:rPr>
              <a:t>Pendidikan</a:t>
            </a:r>
            <a:endParaRPr lang="en-US" sz="2400" dirty="0"/>
          </a:p>
        </p:txBody>
      </p:sp>
      <p:sp>
        <p:nvSpPr>
          <p:cNvPr id="4" name="Shape 2"/>
          <p:cNvSpPr/>
          <p:nvPr/>
        </p:nvSpPr>
        <p:spPr>
          <a:xfrm>
            <a:off x="640080" y="868680"/>
            <a:ext cx="1097280" cy="36576"/>
          </a:xfrm>
          <a:prstGeom prst="rect">
            <a:avLst/>
          </a:prstGeom>
          <a:solidFill>
            <a:srgbClr val="2563EB"/>
          </a:solidFill>
          <a:ln/>
        </p:spPr>
      </p:sp>
      <p:sp>
        <p:nvSpPr>
          <p:cNvPr id="5" name="Shape 3"/>
          <p:cNvSpPr/>
          <p:nvPr/>
        </p:nvSpPr>
        <p:spPr>
          <a:xfrm>
            <a:off x="640080" y="1280160"/>
            <a:ext cx="10515600" cy="2103120"/>
          </a:xfrm>
          <a:prstGeom prst="roundRect">
            <a:avLst>
              <a:gd name="adj" fmla="val 4348"/>
            </a:avLst>
          </a:prstGeom>
          <a:solidFill>
            <a:srgbClr val="F8FAFC"/>
          </a:solidFill>
          <a:ln w="12700">
            <a:solidFill>
              <a:srgbClr val="E2E8F0"/>
            </a:solidFill>
            <a:prstDash val="solid"/>
          </a:ln>
        </p:spPr>
      </p:sp>
      <p:sp>
        <p:nvSpPr>
          <p:cNvPr id="6" name="Shape 4"/>
          <p:cNvSpPr/>
          <p:nvPr/>
        </p:nvSpPr>
        <p:spPr>
          <a:xfrm>
            <a:off x="640080" y="1280160"/>
            <a:ext cx="54864" cy="2103120"/>
          </a:xfrm>
          <a:prstGeom prst="rect">
            <a:avLst/>
          </a:prstGeom>
          <a:solidFill>
            <a:srgbClr val="2563EB"/>
          </a:solidFill>
          <a:ln/>
        </p:spPr>
      </p:sp>
      <p:sp>
        <p:nvSpPr>
          <p:cNvPr id="7" name="Text 5"/>
          <p:cNvSpPr/>
          <p:nvPr/>
        </p:nvSpPr>
        <p:spPr>
          <a:xfrm>
            <a:off x="1005840" y="1417320"/>
            <a:ext cx="1828800" cy="274320"/>
          </a:xfrm>
          <a:prstGeom prst="rect">
            <a:avLst/>
          </a:prstGeom>
          <a:noFill/>
          <a:ln/>
        </p:spPr>
        <p:txBody>
          <a:bodyPr wrap="square" rtlCol="0" anchor="ctr"/>
          <a:lstStyle/>
          <a:p>
            <a:pPr indent="0" marL="0">
              <a:buNone/>
            </a:pPr>
            <a:r>
              <a:rPr lang="en-US" sz="1000" b="1" dirty="0">
                <a:solidFill>
                  <a:srgbClr val="2563EB"/>
                </a:solidFill>
                <a:latin typeface="Segoe UI" pitchFamily="34" charset="0"/>
                <a:ea typeface="Segoe UI" pitchFamily="34" charset="-122"/>
                <a:cs typeface="Segoe UI" pitchFamily="34" charset="-120"/>
              </a:rPr>
              <a:t>2024 – Sekarang</a:t>
            </a:r>
            <a:endParaRPr lang="en-US" sz="1000" dirty="0"/>
          </a:p>
        </p:txBody>
      </p:sp>
      <p:sp>
        <p:nvSpPr>
          <p:cNvPr id="8" name="Text 6"/>
          <p:cNvSpPr/>
          <p:nvPr/>
        </p:nvSpPr>
        <p:spPr>
          <a:xfrm>
            <a:off x="1005840" y="1691640"/>
            <a:ext cx="9144000" cy="320040"/>
          </a:xfrm>
          <a:prstGeom prst="rect">
            <a:avLst/>
          </a:prstGeom>
          <a:noFill/>
          <a:ln/>
        </p:spPr>
        <p:txBody>
          <a:bodyPr wrap="square"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S1 Sistem Teknologi Informasi</a:t>
            </a:r>
            <a:endParaRPr lang="en-US" sz="1600" dirty="0"/>
          </a:p>
        </p:txBody>
      </p:sp>
      <p:sp>
        <p:nvSpPr>
          <p:cNvPr id="9" name="Text 7"/>
          <p:cNvSpPr/>
          <p:nvPr/>
        </p:nvSpPr>
        <p:spPr>
          <a:xfrm>
            <a:off x="1005840" y="2011680"/>
            <a:ext cx="9144000" cy="274320"/>
          </a:xfrm>
          <a:prstGeom prst="rect">
            <a:avLst/>
          </a:prstGeom>
          <a:noFill/>
          <a:ln/>
        </p:spPr>
        <p:txBody>
          <a:bodyPr wrap="square" rtlCol="0" anchor="ctr"/>
          <a:lstStyle/>
          <a:p>
            <a:pPr indent="0" marL="0">
              <a:buNone/>
            </a:pPr>
            <a:r>
              <a:rPr lang="en-US" sz="1200" dirty="0">
                <a:solidFill>
                  <a:srgbClr val="2563EB"/>
                </a:solidFill>
                <a:latin typeface="Segoe UI" pitchFamily="34" charset="0"/>
                <a:ea typeface="Segoe UI" pitchFamily="34" charset="-122"/>
                <a:cs typeface="Segoe UI" pitchFamily="34" charset="-120"/>
              </a:rPr>
              <a:t>Universitas Cakrawala</a:t>
            </a:r>
            <a:endParaRPr lang="en-US" sz="1200" dirty="0"/>
          </a:p>
        </p:txBody>
      </p:sp>
      <p:sp>
        <p:nvSpPr>
          <p:cNvPr id="10" name="Text 8"/>
          <p:cNvSpPr/>
          <p:nvPr/>
        </p:nvSpPr>
        <p:spPr>
          <a:xfrm>
            <a:off x="1005840" y="2377440"/>
            <a:ext cx="9601200" cy="731520"/>
          </a:xfrm>
          <a:prstGeom prst="rect">
            <a:avLst/>
          </a:prstGeom>
          <a:noFill/>
          <a:ln/>
        </p:spPr>
        <p:txBody>
          <a:bodyPr wrap="square" rtlCol="0" anchor="ctr"/>
          <a:lstStyle/>
          <a:p>
            <a:pPr indent="0" marL="0">
              <a:lnSpc>
                <a:spcPct val="140000"/>
              </a:lnSpc>
              <a:buNone/>
            </a:pPr>
            <a:r>
              <a:rPr lang="en-US" sz="1100" dirty="0">
                <a:solidFill>
                  <a:srgbClr val="475569"/>
                </a:solidFill>
                <a:latin typeface="Segoe UI" pitchFamily="34" charset="0"/>
                <a:ea typeface="Segoe UI" pitchFamily="34" charset="-122"/>
                <a:cs typeface="Segoe UI" pitchFamily="34" charset="-120"/>
              </a:rPr>
              <a:t>Saat ini saya sedang mempelajari berbagai bidang teknologi informasi, mulai dari pengembangan website, basis data, analisis sistem, hingga pengembangan aplikasi sebagai bekal untuk memasuki dunia kerja.</a:t>
            </a:r>
            <a:endParaRPr lang="en-US" sz="1100" dirty="0"/>
          </a:p>
        </p:txBody>
      </p:sp>
      <p:sp>
        <p:nvSpPr>
          <p:cNvPr id="11" name="Shape 9"/>
          <p:cNvSpPr/>
          <p:nvPr/>
        </p:nvSpPr>
        <p:spPr>
          <a:xfrm>
            <a:off x="640080" y="3657600"/>
            <a:ext cx="10515600" cy="2103120"/>
          </a:xfrm>
          <a:prstGeom prst="roundRect">
            <a:avLst>
              <a:gd name="adj" fmla="val 4348"/>
            </a:avLst>
          </a:prstGeom>
          <a:solidFill>
            <a:srgbClr val="F8FAFC"/>
          </a:solidFill>
          <a:ln w="12700">
            <a:solidFill>
              <a:srgbClr val="E2E8F0"/>
            </a:solidFill>
            <a:prstDash val="solid"/>
          </a:ln>
        </p:spPr>
      </p:sp>
      <p:sp>
        <p:nvSpPr>
          <p:cNvPr id="12" name="Shape 10"/>
          <p:cNvSpPr/>
          <p:nvPr/>
        </p:nvSpPr>
        <p:spPr>
          <a:xfrm>
            <a:off x="640080" y="3657600"/>
            <a:ext cx="54864" cy="2103120"/>
          </a:xfrm>
          <a:prstGeom prst="rect">
            <a:avLst/>
          </a:prstGeom>
          <a:solidFill>
            <a:srgbClr val="7C3AED"/>
          </a:solidFill>
          <a:ln/>
        </p:spPr>
      </p:sp>
      <p:sp>
        <p:nvSpPr>
          <p:cNvPr id="13" name="Text 11"/>
          <p:cNvSpPr/>
          <p:nvPr/>
        </p:nvSpPr>
        <p:spPr>
          <a:xfrm>
            <a:off x="1005840" y="3794760"/>
            <a:ext cx="1828800" cy="274320"/>
          </a:xfrm>
          <a:prstGeom prst="rect">
            <a:avLst/>
          </a:prstGeom>
          <a:noFill/>
          <a:ln/>
        </p:spPr>
        <p:txBody>
          <a:bodyPr wrap="square" rtlCol="0" anchor="ctr"/>
          <a:lstStyle/>
          <a:p>
            <a:pPr indent="0" marL="0">
              <a:buNone/>
            </a:pPr>
            <a:r>
              <a:rPr lang="en-US" sz="1000" b="1" dirty="0">
                <a:solidFill>
                  <a:srgbClr val="7C3AED"/>
                </a:solidFill>
                <a:latin typeface="Segoe UI" pitchFamily="34" charset="0"/>
                <a:ea typeface="Segoe UI" pitchFamily="34" charset="-122"/>
                <a:cs typeface="Segoe UI" pitchFamily="34" charset="-120"/>
              </a:rPr>
              <a:t>2021 – 2024</a:t>
            </a:r>
            <a:endParaRPr lang="en-US" sz="1000" dirty="0"/>
          </a:p>
        </p:txBody>
      </p:sp>
      <p:sp>
        <p:nvSpPr>
          <p:cNvPr id="14" name="Text 12"/>
          <p:cNvSpPr/>
          <p:nvPr/>
        </p:nvSpPr>
        <p:spPr>
          <a:xfrm>
            <a:off x="1005840" y="4069080"/>
            <a:ext cx="9144000" cy="320040"/>
          </a:xfrm>
          <a:prstGeom prst="rect">
            <a:avLst/>
          </a:prstGeom>
          <a:noFill/>
          <a:ln/>
        </p:spPr>
        <p:txBody>
          <a:bodyPr wrap="square"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Multimedia</a:t>
            </a:r>
            <a:endParaRPr lang="en-US" sz="1600" dirty="0"/>
          </a:p>
        </p:txBody>
      </p:sp>
      <p:sp>
        <p:nvSpPr>
          <p:cNvPr id="15" name="Text 13"/>
          <p:cNvSpPr/>
          <p:nvPr/>
        </p:nvSpPr>
        <p:spPr>
          <a:xfrm>
            <a:off x="1005840" y="4389120"/>
            <a:ext cx="9144000" cy="274320"/>
          </a:xfrm>
          <a:prstGeom prst="rect">
            <a:avLst/>
          </a:prstGeom>
          <a:noFill/>
          <a:ln/>
        </p:spPr>
        <p:txBody>
          <a:bodyPr wrap="square" rtlCol="0" anchor="ctr"/>
          <a:lstStyle/>
          <a:p>
            <a:pPr indent="0" marL="0">
              <a:buNone/>
            </a:pPr>
            <a:r>
              <a:rPr lang="en-US" sz="1200" dirty="0">
                <a:solidFill>
                  <a:srgbClr val="7C3AED"/>
                </a:solidFill>
                <a:latin typeface="Segoe UI" pitchFamily="34" charset="0"/>
                <a:ea typeface="Segoe UI" pitchFamily="34" charset="-122"/>
                <a:cs typeface="Segoe UI" pitchFamily="34" charset="-120"/>
              </a:rPr>
              <a:t>SMK Bina Nusa Mandiri</a:t>
            </a:r>
            <a:endParaRPr lang="en-US" sz="1200" dirty="0"/>
          </a:p>
        </p:txBody>
      </p:sp>
      <p:sp>
        <p:nvSpPr>
          <p:cNvPr id="16" name="Text 14"/>
          <p:cNvSpPr/>
          <p:nvPr/>
        </p:nvSpPr>
        <p:spPr>
          <a:xfrm>
            <a:off x="1005840" y="4754880"/>
            <a:ext cx="9601200" cy="731520"/>
          </a:xfrm>
          <a:prstGeom prst="rect">
            <a:avLst/>
          </a:prstGeom>
          <a:noFill/>
          <a:ln/>
        </p:spPr>
        <p:txBody>
          <a:bodyPr wrap="square" rtlCol="0" anchor="ctr"/>
          <a:lstStyle/>
          <a:p>
            <a:pPr indent="0" marL="0">
              <a:lnSpc>
                <a:spcPct val="140000"/>
              </a:lnSpc>
              <a:buNone/>
            </a:pPr>
            <a:r>
              <a:rPr lang="en-US" sz="1100" dirty="0">
                <a:solidFill>
                  <a:srgbClr val="475569"/>
                </a:solidFill>
                <a:latin typeface="Segoe UI" pitchFamily="34" charset="0"/>
                <a:ea typeface="Segoe UI" pitchFamily="34" charset="-122"/>
                <a:cs typeface="Segoe UI" pitchFamily="34" charset="-120"/>
              </a:rPr>
              <a:t>Mempelajari konsep komunikasi visual, desain grafis dasar, pengolahan gambar digital, penyuntingan video, serta pengelolaan aset multimedia.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2563EB"/>
          </a:solidFill>
          <a:ln/>
        </p:spPr>
      </p:sp>
      <p:sp>
        <p:nvSpPr>
          <p:cNvPr id="3" name="Text 1"/>
          <p:cNvSpPr/>
          <p:nvPr/>
        </p:nvSpPr>
        <p:spPr>
          <a:xfrm>
            <a:off x="640080" y="365760"/>
            <a:ext cx="7315200" cy="457200"/>
          </a:xfrm>
          <a:prstGeom prst="rect">
            <a:avLst/>
          </a:prstGeom>
          <a:noFill/>
          <a:ln/>
        </p:spPr>
        <p:txBody>
          <a:bodyPr wrap="square" rtlCol="0" anchor="ctr"/>
          <a:lstStyle/>
          <a:p>
            <a:pPr indent="0" marL="0">
              <a:buNone/>
            </a:pPr>
            <a:r>
              <a:rPr lang="en-US" sz="2400" b="1" dirty="0">
                <a:solidFill>
                  <a:srgbClr val="0F172A"/>
                </a:solidFill>
                <a:latin typeface="Segoe UI" pitchFamily="34" charset="0"/>
                <a:ea typeface="Segoe UI" pitchFamily="34" charset="-122"/>
                <a:cs typeface="Segoe UI" pitchFamily="34" charset="-120"/>
              </a:rPr>
              <a:t>Pengalaman Kerja &amp; PKL</a:t>
            </a:r>
            <a:endParaRPr lang="en-US" sz="2400" dirty="0"/>
          </a:p>
        </p:txBody>
      </p:sp>
      <p:sp>
        <p:nvSpPr>
          <p:cNvPr id="4" name="Shape 2"/>
          <p:cNvSpPr/>
          <p:nvPr/>
        </p:nvSpPr>
        <p:spPr>
          <a:xfrm>
            <a:off x="640080" y="868680"/>
            <a:ext cx="1097280" cy="36576"/>
          </a:xfrm>
          <a:prstGeom prst="rect">
            <a:avLst/>
          </a:prstGeom>
          <a:solidFill>
            <a:srgbClr val="2563EB"/>
          </a:solidFill>
          <a:ln/>
        </p:spPr>
      </p:sp>
      <p:sp>
        <p:nvSpPr>
          <p:cNvPr id="5" name="Shape 3"/>
          <p:cNvSpPr/>
          <p:nvPr/>
        </p:nvSpPr>
        <p:spPr>
          <a:xfrm>
            <a:off x="640080" y="1188720"/>
            <a:ext cx="5120640" cy="4663440"/>
          </a:xfrm>
          <a:prstGeom prst="roundRect">
            <a:avLst>
              <a:gd name="adj" fmla="val 1961"/>
            </a:avLst>
          </a:prstGeom>
          <a:solidFill>
            <a:srgbClr val="F8FAFC"/>
          </a:solidFill>
          <a:ln w="12700">
            <a:solidFill>
              <a:srgbClr val="E2E8F0"/>
            </a:solidFill>
            <a:prstDash val="solid"/>
          </a:ln>
        </p:spPr>
      </p:sp>
      <p:sp>
        <p:nvSpPr>
          <p:cNvPr id="6" name="Shape 4"/>
          <p:cNvSpPr/>
          <p:nvPr/>
        </p:nvSpPr>
        <p:spPr>
          <a:xfrm>
            <a:off x="640080" y="1188720"/>
            <a:ext cx="5120640" cy="54864"/>
          </a:xfrm>
          <a:prstGeom prst="rect">
            <a:avLst/>
          </a:prstGeom>
          <a:solidFill>
            <a:srgbClr val="2563EB"/>
          </a:solidFill>
          <a:ln/>
        </p:spPr>
      </p:sp>
      <p:sp>
        <p:nvSpPr>
          <p:cNvPr id="7" name="Text 5"/>
          <p:cNvSpPr/>
          <p:nvPr/>
        </p:nvSpPr>
        <p:spPr>
          <a:xfrm>
            <a:off x="914400" y="1417320"/>
            <a:ext cx="4572000" cy="320040"/>
          </a:xfrm>
          <a:prstGeom prst="rect">
            <a:avLst/>
          </a:prstGeom>
          <a:noFill/>
          <a:ln/>
        </p:spPr>
        <p:txBody>
          <a:bodyPr wrap="square"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Staff Operasional Toko Plastik</a:t>
            </a:r>
            <a:endParaRPr lang="en-US" sz="1400" dirty="0"/>
          </a:p>
        </p:txBody>
      </p:sp>
      <p:sp>
        <p:nvSpPr>
          <p:cNvPr id="8" name="Text 6"/>
          <p:cNvSpPr/>
          <p:nvPr/>
        </p:nvSpPr>
        <p:spPr>
          <a:xfrm>
            <a:off x="914400" y="1737360"/>
            <a:ext cx="4572000" cy="228600"/>
          </a:xfrm>
          <a:prstGeom prst="rect">
            <a:avLst/>
          </a:prstGeom>
          <a:noFill/>
          <a:ln/>
        </p:spPr>
        <p:txBody>
          <a:bodyPr wrap="square" rtlCol="0" anchor="ctr"/>
          <a:lstStyle/>
          <a:p>
            <a:pPr indent="0" marL="0">
              <a:buNone/>
            </a:pPr>
            <a:r>
              <a:rPr lang="en-US" sz="1000" dirty="0">
                <a:solidFill>
                  <a:srgbClr val="2563EB"/>
                </a:solidFill>
                <a:latin typeface="Segoe UI" pitchFamily="34" charset="0"/>
                <a:ea typeface="Segoe UI" pitchFamily="34" charset="-122"/>
                <a:cs typeface="Segoe UI" pitchFamily="34" charset="-120"/>
              </a:rPr>
              <a:t>Toko Plastik  •  Masa Kerja</a:t>
            </a:r>
            <a:endParaRPr lang="en-US" sz="1000" dirty="0"/>
          </a:p>
        </p:txBody>
      </p:sp>
      <p:sp>
        <p:nvSpPr>
          <p:cNvPr id="9" name="Text 7"/>
          <p:cNvSpPr/>
          <p:nvPr/>
        </p:nvSpPr>
        <p:spPr>
          <a:xfrm>
            <a:off x="914400" y="2103120"/>
            <a:ext cx="4480560" cy="822960"/>
          </a:xfrm>
          <a:prstGeom prst="rect">
            <a:avLst/>
          </a:prstGeom>
          <a:noFill/>
          <a:ln/>
        </p:spPr>
        <p:txBody>
          <a:bodyPr wrap="square" rtlCol="0" anchor="ctr"/>
          <a:lstStyle/>
          <a:p>
            <a:pPr indent="0" marL="0">
              <a:lnSpc>
                <a:spcPct val="140000"/>
              </a:lnSpc>
              <a:buNone/>
            </a:pPr>
            <a:r>
              <a:rPr lang="en-US" sz="1000" dirty="0">
                <a:solidFill>
                  <a:srgbClr val="475569"/>
                </a:solidFill>
                <a:latin typeface="Segoe UI" pitchFamily="34" charset="0"/>
                <a:ea typeface="Segoe UI" pitchFamily="34" charset="-122"/>
                <a:cs typeface="Segoe UI" pitchFamily="34" charset="-120"/>
              </a:rPr>
              <a:t>Bertanggung jawab membantu operasional toko sehari-hari, melayani pelanggan, mencatat transaksi dan pengeluaran, serta memantau ketersediaan stok barang.</a:t>
            </a:r>
            <a:endParaRPr lang="en-US" sz="1000" dirty="0"/>
          </a:p>
        </p:txBody>
      </p:sp>
      <p:sp>
        <p:nvSpPr>
          <p:cNvPr id="10" name="Text 8"/>
          <p:cNvSpPr/>
          <p:nvPr/>
        </p:nvSpPr>
        <p:spPr>
          <a:xfrm>
            <a:off x="914400" y="3017520"/>
            <a:ext cx="4480560" cy="32004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  Melayani pelanggan dan membantu memilih produk</a:t>
            </a:r>
            <a:endParaRPr lang="en-US" sz="1000" dirty="0"/>
          </a:p>
        </p:txBody>
      </p:sp>
      <p:sp>
        <p:nvSpPr>
          <p:cNvPr id="11" name="Text 9"/>
          <p:cNvSpPr/>
          <p:nvPr/>
        </p:nvSpPr>
        <p:spPr>
          <a:xfrm>
            <a:off x="914400" y="3383280"/>
            <a:ext cx="4480560" cy="32004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  Mencatat transaksi dan pengeluaran toko</a:t>
            </a:r>
            <a:endParaRPr lang="en-US" sz="1000" dirty="0"/>
          </a:p>
        </p:txBody>
      </p:sp>
      <p:sp>
        <p:nvSpPr>
          <p:cNvPr id="12" name="Text 10"/>
          <p:cNvSpPr/>
          <p:nvPr/>
        </p:nvSpPr>
        <p:spPr>
          <a:xfrm>
            <a:off x="914400" y="3749040"/>
            <a:ext cx="4480560" cy="32004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  Memantau ketersediaan stok barang</a:t>
            </a:r>
            <a:endParaRPr lang="en-US" sz="1000" dirty="0"/>
          </a:p>
        </p:txBody>
      </p:sp>
      <p:sp>
        <p:nvSpPr>
          <p:cNvPr id="13" name="Text 11"/>
          <p:cNvSpPr/>
          <p:nvPr/>
        </p:nvSpPr>
        <p:spPr>
          <a:xfrm>
            <a:off x="914400" y="4114800"/>
            <a:ext cx="4480560" cy="32004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  Mengenali jenis &amp; spesifikasi produk plastik</a:t>
            </a:r>
            <a:endParaRPr lang="en-US" sz="1000" dirty="0"/>
          </a:p>
        </p:txBody>
      </p:sp>
      <p:sp>
        <p:nvSpPr>
          <p:cNvPr id="14" name="Text 12"/>
          <p:cNvSpPr/>
          <p:nvPr/>
        </p:nvSpPr>
        <p:spPr>
          <a:xfrm>
            <a:off x="914400" y="4480560"/>
            <a:ext cx="4480560" cy="32004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  Menjaga kerapihan area kerja</a:t>
            </a:r>
            <a:endParaRPr lang="en-US" sz="1000" dirty="0"/>
          </a:p>
        </p:txBody>
      </p:sp>
      <p:sp>
        <p:nvSpPr>
          <p:cNvPr id="15" name="Shape 13"/>
          <p:cNvSpPr/>
          <p:nvPr/>
        </p:nvSpPr>
        <p:spPr>
          <a:xfrm>
            <a:off x="6035040" y="1188720"/>
            <a:ext cx="5120640" cy="4663440"/>
          </a:xfrm>
          <a:prstGeom prst="roundRect">
            <a:avLst>
              <a:gd name="adj" fmla="val 1961"/>
            </a:avLst>
          </a:prstGeom>
          <a:solidFill>
            <a:srgbClr val="F8FAFC"/>
          </a:solidFill>
          <a:ln w="12700">
            <a:solidFill>
              <a:srgbClr val="E2E8F0"/>
            </a:solidFill>
            <a:prstDash val="solid"/>
          </a:ln>
        </p:spPr>
      </p:sp>
      <p:sp>
        <p:nvSpPr>
          <p:cNvPr id="16" name="Shape 14"/>
          <p:cNvSpPr/>
          <p:nvPr/>
        </p:nvSpPr>
        <p:spPr>
          <a:xfrm>
            <a:off x="6035040" y="1188720"/>
            <a:ext cx="5120640" cy="54864"/>
          </a:xfrm>
          <a:prstGeom prst="rect">
            <a:avLst/>
          </a:prstGeom>
          <a:solidFill>
            <a:srgbClr val="7C3AED"/>
          </a:solidFill>
          <a:ln/>
        </p:spPr>
      </p:sp>
      <p:sp>
        <p:nvSpPr>
          <p:cNvPr id="17" name="Text 15"/>
          <p:cNvSpPr/>
          <p:nvPr/>
        </p:nvSpPr>
        <p:spPr>
          <a:xfrm>
            <a:off x="6309360" y="1417320"/>
            <a:ext cx="4572000" cy="320040"/>
          </a:xfrm>
          <a:prstGeom prst="rect">
            <a:avLst/>
          </a:prstGeom>
          <a:noFill/>
          <a:ln/>
        </p:spPr>
        <p:txBody>
          <a:bodyPr wrap="square"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Staff Pendataan Perpustakaan</a:t>
            </a:r>
            <a:endParaRPr lang="en-US" sz="1400" dirty="0"/>
          </a:p>
        </p:txBody>
      </p:sp>
      <p:sp>
        <p:nvSpPr>
          <p:cNvPr id="18" name="Text 16"/>
          <p:cNvSpPr/>
          <p:nvPr/>
        </p:nvSpPr>
        <p:spPr>
          <a:xfrm>
            <a:off x="6309360" y="1737360"/>
            <a:ext cx="4572000" cy="228600"/>
          </a:xfrm>
          <a:prstGeom prst="rect">
            <a:avLst/>
          </a:prstGeom>
          <a:noFill/>
          <a:ln/>
        </p:spPr>
        <p:txBody>
          <a:bodyPr wrap="square" rtlCol="0" anchor="ctr"/>
          <a:lstStyle/>
          <a:p>
            <a:pPr indent="0" marL="0">
              <a:buNone/>
            </a:pPr>
            <a:r>
              <a:rPr lang="en-US" sz="1000" dirty="0">
                <a:solidFill>
                  <a:srgbClr val="7C3AED"/>
                </a:solidFill>
                <a:latin typeface="Segoe UI" pitchFamily="34" charset="0"/>
                <a:ea typeface="Segoe UI" pitchFamily="34" charset="-122"/>
                <a:cs typeface="Segoe UI" pitchFamily="34" charset="-120"/>
              </a:rPr>
              <a:t>Jakarta Global University  •  PKL</a:t>
            </a:r>
            <a:endParaRPr lang="en-US" sz="1000" dirty="0"/>
          </a:p>
        </p:txBody>
      </p:sp>
      <p:sp>
        <p:nvSpPr>
          <p:cNvPr id="19" name="Text 17"/>
          <p:cNvSpPr/>
          <p:nvPr/>
        </p:nvSpPr>
        <p:spPr>
          <a:xfrm>
            <a:off x="6309360" y="2103120"/>
            <a:ext cx="4480560" cy="822960"/>
          </a:xfrm>
          <a:prstGeom prst="rect">
            <a:avLst/>
          </a:prstGeom>
          <a:noFill/>
          <a:ln/>
        </p:spPr>
        <p:txBody>
          <a:bodyPr wrap="square" rtlCol="0" anchor="ctr"/>
          <a:lstStyle/>
          <a:p>
            <a:pPr indent="0" marL="0">
              <a:lnSpc>
                <a:spcPct val="140000"/>
              </a:lnSpc>
              <a:buNone/>
            </a:pPr>
            <a:r>
              <a:rPr lang="en-US" sz="1000" dirty="0">
                <a:solidFill>
                  <a:srgbClr val="475569"/>
                </a:solidFill>
                <a:latin typeface="Segoe UI" pitchFamily="34" charset="0"/>
                <a:ea typeface="Segoe UI" pitchFamily="34" charset="-122"/>
                <a:cs typeface="Segoe UI" pitchFamily="34" charset="-120"/>
              </a:rPr>
              <a:t>Selama menjalani Praktik Kerja Lapangan di Jakarta Global University, membantu proses administrasi perpustakaan dengan melakukan pendataan dan penginputan buku ke dalam sistem.</a:t>
            </a:r>
            <a:endParaRPr lang="en-US" sz="1000" dirty="0"/>
          </a:p>
        </p:txBody>
      </p:sp>
      <p:sp>
        <p:nvSpPr>
          <p:cNvPr id="20" name="Text 18"/>
          <p:cNvSpPr/>
          <p:nvPr/>
        </p:nvSpPr>
        <p:spPr>
          <a:xfrm>
            <a:off x="6309360" y="3017520"/>
            <a:ext cx="4480560" cy="32004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  Penginputan &amp; pembaruan data buku</a:t>
            </a:r>
            <a:endParaRPr lang="en-US" sz="1000" dirty="0"/>
          </a:p>
        </p:txBody>
      </p:sp>
      <p:sp>
        <p:nvSpPr>
          <p:cNvPr id="21" name="Text 19"/>
          <p:cNvSpPr/>
          <p:nvPr/>
        </p:nvSpPr>
        <p:spPr>
          <a:xfrm>
            <a:off x="6309360" y="3383280"/>
            <a:ext cx="4480560" cy="32004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  Memastikan akurasi data bersama tim</a:t>
            </a:r>
            <a:endParaRPr lang="en-US" sz="1000" dirty="0"/>
          </a:p>
        </p:txBody>
      </p:sp>
      <p:sp>
        <p:nvSpPr>
          <p:cNvPr id="22" name="Text 20"/>
          <p:cNvSpPr/>
          <p:nvPr/>
        </p:nvSpPr>
        <p:spPr>
          <a:xfrm>
            <a:off x="6309360" y="3749040"/>
            <a:ext cx="4480560" cy="32004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  Pengelolaan administrasi perpustakaan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2563EB"/>
          </a:solidFill>
          <a:ln/>
        </p:spPr>
      </p:sp>
      <p:sp>
        <p:nvSpPr>
          <p:cNvPr id="3" name="Text 1"/>
          <p:cNvSpPr/>
          <p:nvPr/>
        </p:nvSpPr>
        <p:spPr>
          <a:xfrm>
            <a:off x="640080" y="365760"/>
            <a:ext cx="4572000" cy="457200"/>
          </a:xfrm>
          <a:prstGeom prst="rect">
            <a:avLst/>
          </a:prstGeom>
          <a:noFill/>
          <a:ln/>
        </p:spPr>
        <p:txBody>
          <a:bodyPr wrap="square" rtlCol="0" anchor="ctr"/>
          <a:lstStyle/>
          <a:p>
            <a:pPr indent="0" marL="0">
              <a:buNone/>
            </a:pPr>
            <a:r>
              <a:rPr lang="en-US" sz="2400" b="1" dirty="0">
                <a:solidFill>
                  <a:srgbClr val="0F172A"/>
                </a:solidFill>
                <a:latin typeface="Segoe UI" pitchFamily="34" charset="0"/>
                <a:ea typeface="Segoe UI" pitchFamily="34" charset="-122"/>
                <a:cs typeface="Segoe UI" pitchFamily="34" charset="-120"/>
              </a:rPr>
              <a:t>Project &amp; Portfolio</a:t>
            </a:r>
            <a:endParaRPr lang="en-US" sz="2400" dirty="0"/>
          </a:p>
        </p:txBody>
      </p:sp>
      <p:sp>
        <p:nvSpPr>
          <p:cNvPr id="4" name="Shape 2"/>
          <p:cNvSpPr/>
          <p:nvPr/>
        </p:nvSpPr>
        <p:spPr>
          <a:xfrm>
            <a:off x="640080" y="868680"/>
            <a:ext cx="1097280" cy="36576"/>
          </a:xfrm>
          <a:prstGeom prst="rect">
            <a:avLst/>
          </a:prstGeom>
          <a:solidFill>
            <a:srgbClr val="2563EB"/>
          </a:solidFill>
          <a:ln/>
        </p:spPr>
      </p:sp>
      <p:sp>
        <p:nvSpPr>
          <p:cNvPr id="5" name="Shape 3"/>
          <p:cNvSpPr/>
          <p:nvPr/>
        </p:nvSpPr>
        <p:spPr>
          <a:xfrm>
            <a:off x="640080" y="1188720"/>
            <a:ext cx="10515600" cy="1371600"/>
          </a:xfrm>
          <a:prstGeom prst="roundRect">
            <a:avLst>
              <a:gd name="adj" fmla="val 6667"/>
            </a:avLst>
          </a:prstGeom>
          <a:solidFill>
            <a:srgbClr val="F8FAFC"/>
          </a:solidFill>
          <a:ln w="12700">
            <a:solidFill>
              <a:srgbClr val="E2E8F0"/>
            </a:solidFill>
            <a:prstDash val="solid"/>
          </a:ln>
        </p:spPr>
      </p:sp>
      <p:sp>
        <p:nvSpPr>
          <p:cNvPr id="6" name="Shape 4"/>
          <p:cNvSpPr/>
          <p:nvPr/>
        </p:nvSpPr>
        <p:spPr>
          <a:xfrm>
            <a:off x="640080" y="1188720"/>
            <a:ext cx="54864" cy="1371600"/>
          </a:xfrm>
          <a:prstGeom prst="rect">
            <a:avLst/>
          </a:prstGeom>
          <a:solidFill>
            <a:srgbClr val="2563EB"/>
          </a:solidFill>
          <a:ln/>
        </p:spPr>
      </p:sp>
      <p:sp>
        <p:nvSpPr>
          <p:cNvPr id="7" name="Text 5"/>
          <p:cNvSpPr/>
          <p:nvPr/>
        </p:nvSpPr>
        <p:spPr>
          <a:xfrm>
            <a:off x="1005840" y="1280160"/>
            <a:ext cx="9601200" cy="27432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PawMatch – Pet Adoption &amp; Matching Platform</a:t>
            </a:r>
            <a:endParaRPr lang="en-US" sz="1300" dirty="0"/>
          </a:p>
        </p:txBody>
      </p:sp>
      <p:sp>
        <p:nvSpPr>
          <p:cNvPr id="8" name="Text 6"/>
          <p:cNvSpPr/>
          <p:nvPr/>
        </p:nvSpPr>
        <p:spPr>
          <a:xfrm>
            <a:off x="1005840" y="1600200"/>
            <a:ext cx="9601200" cy="548640"/>
          </a:xfrm>
          <a:prstGeom prst="rect">
            <a:avLst/>
          </a:prstGeom>
          <a:noFill/>
          <a:ln/>
        </p:spPr>
        <p:txBody>
          <a:bodyPr wrap="square" rtlCol="0" anchor="ctr"/>
          <a:lstStyle/>
          <a:p>
            <a:pPr indent="0" marL="0">
              <a:lnSpc>
                <a:spcPct val="130000"/>
              </a:lnSpc>
              <a:buNone/>
            </a:pPr>
            <a:r>
              <a:rPr lang="en-US" sz="1000" dirty="0">
                <a:solidFill>
                  <a:srgbClr val="475569"/>
                </a:solidFill>
                <a:latin typeface="Segoe UI" pitchFamily="34" charset="0"/>
                <a:ea typeface="Segoe UI" pitchFamily="34" charset="-122"/>
                <a:cs typeface="Segoe UI" pitchFamily="34" charset="-120"/>
              </a:rPr>
              <a:t>Aplikasi yang membantu pengguna menemukan hewan peliharaan yang paling cocok dengan gaya hidup, kepribadian, dan preferensi mereka. Konsep utamanya seperti "dating app untuk mencari hewan peliharaan".</a:t>
            </a:r>
            <a:endParaRPr lang="en-US" sz="1000" dirty="0"/>
          </a:p>
        </p:txBody>
      </p:sp>
      <p:sp>
        <p:nvSpPr>
          <p:cNvPr id="9" name="Text 7"/>
          <p:cNvSpPr/>
          <p:nvPr/>
        </p:nvSpPr>
        <p:spPr>
          <a:xfrm>
            <a:off x="1005840" y="2194560"/>
            <a:ext cx="9601200" cy="228600"/>
          </a:xfrm>
          <a:prstGeom prst="rect">
            <a:avLst/>
          </a:prstGeom>
          <a:noFill/>
          <a:ln/>
        </p:spPr>
        <p:txBody>
          <a:bodyPr wrap="square" rtlCol="0" anchor="ctr"/>
          <a:lstStyle/>
          <a:p>
            <a:pPr indent="0" marL="0">
              <a:buNone/>
            </a:pPr>
            <a:r>
              <a:rPr lang="en-US" sz="900" b="1" dirty="0">
                <a:solidFill>
                  <a:srgbClr val="2563EB"/>
                </a:solidFill>
                <a:latin typeface="Segoe UI" pitchFamily="34" charset="0"/>
                <a:ea typeface="Segoe UI" pitchFamily="34" charset="-122"/>
                <a:cs typeface="Segoe UI" pitchFamily="34" charset="-120"/>
              </a:rPr>
              <a:t>HTML   •   CSS   •   JavaScript   •   UI/UX Concept   •   Matchmaking</a:t>
            </a:r>
            <a:endParaRPr lang="en-US" sz="900" dirty="0"/>
          </a:p>
        </p:txBody>
      </p:sp>
      <p:sp>
        <p:nvSpPr>
          <p:cNvPr id="10" name="Shape 8"/>
          <p:cNvSpPr/>
          <p:nvPr/>
        </p:nvSpPr>
        <p:spPr>
          <a:xfrm>
            <a:off x="640080" y="2743200"/>
            <a:ext cx="10515600" cy="1371600"/>
          </a:xfrm>
          <a:prstGeom prst="roundRect">
            <a:avLst>
              <a:gd name="adj" fmla="val 6667"/>
            </a:avLst>
          </a:prstGeom>
          <a:solidFill>
            <a:srgbClr val="F8FAFC"/>
          </a:solidFill>
          <a:ln w="12700">
            <a:solidFill>
              <a:srgbClr val="E2E8F0"/>
            </a:solidFill>
            <a:prstDash val="solid"/>
          </a:ln>
        </p:spPr>
      </p:sp>
      <p:sp>
        <p:nvSpPr>
          <p:cNvPr id="11" name="Shape 9"/>
          <p:cNvSpPr/>
          <p:nvPr/>
        </p:nvSpPr>
        <p:spPr>
          <a:xfrm>
            <a:off x="640080" y="2743200"/>
            <a:ext cx="54864" cy="1371600"/>
          </a:xfrm>
          <a:prstGeom prst="rect">
            <a:avLst/>
          </a:prstGeom>
          <a:solidFill>
            <a:srgbClr val="7C3AED"/>
          </a:solidFill>
          <a:ln/>
        </p:spPr>
      </p:sp>
      <p:sp>
        <p:nvSpPr>
          <p:cNvPr id="12" name="Text 10"/>
          <p:cNvSpPr/>
          <p:nvPr/>
        </p:nvSpPr>
        <p:spPr>
          <a:xfrm>
            <a:off x="1005840" y="2834640"/>
            <a:ext cx="9601200" cy="27432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Green Lake View Website</a:t>
            </a:r>
            <a:endParaRPr lang="en-US" sz="1300" dirty="0"/>
          </a:p>
        </p:txBody>
      </p:sp>
      <p:sp>
        <p:nvSpPr>
          <p:cNvPr id="13" name="Text 11"/>
          <p:cNvSpPr/>
          <p:nvPr/>
        </p:nvSpPr>
        <p:spPr>
          <a:xfrm>
            <a:off x="1005840" y="3154680"/>
            <a:ext cx="9601200" cy="548640"/>
          </a:xfrm>
          <a:prstGeom prst="rect">
            <a:avLst/>
          </a:prstGeom>
          <a:noFill/>
          <a:ln/>
        </p:spPr>
        <p:txBody>
          <a:bodyPr wrap="square" rtlCol="0" anchor="ctr"/>
          <a:lstStyle/>
          <a:p>
            <a:pPr indent="0" marL="0">
              <a:lnSpc>
                <a:spcPct val="130000"/>
              </a:lnSpc>
              <a:buNone/>
            </a:pPr>
            <a:r>
              <a:rPr lang="en-US" sz="1000" dirty="0">
                <a:solidFill>
                  <a:srgbClr val="475569"/>
                </a:solidFill>
                <a:latin typeface="Segoe UI" pitchFamily="34" charset="0"/>
                <a:ea typeface="Segoe UI" pitchFamily="34" charset="-122"/>
                <a:cs typeface="Segoe UI" pitchFamily="34" charset="-120"/>
              </a:rPr>
              <a:t>Website company profile untuk proyek properti yang dirancang dengan tampilan modern dan responsif. Menyajikan informasi apartemen, cluster hunian, fasilitas, dan galeri.</a:t>
            </a:r>
            <a:endParaRPr lang="en-US" sz="1000" dirty="0"/>
          </a:p>
        </p:txBody>
      </p:sp>
      <p:sp>
        <p:nvSpPr>
          <p:cNvPr id="14" name="Text 12"/>
          <p:cNvSpPr/>
          <p:nvPr/>
        </p:nvSpPr>
        <p:spPr>
          <a:xfrm>
            <a:off x="1005840" y="3749040"/>
            <a:ext cx="9601200" cy="228600"/>
          </a:xfrm>
          <a:prstGeom prst="rect">
            <a:avLst/>
          </a:prstGeom>
          <a:noFill/>
          <a:ln/>
        </p:spPr>
        <p:txBody>
          <a:bodyPr wrap="square" rtlCol="0" anchor="ctr"/>
          <a:lstStyle/>
          <a:p>
            <a:pPr indent="0" marL="0">
              <a:buNone/>
            </a:pPr>
            <a:r>
              <a:rPr lang="en-US" sz="900" b="1" dirty="0">
                <a:solidFill>
                  <a:srgbClr val="7C3AED"/>
                </a:solidFill>
                <a:latin typeface="Segoe UI" pitchFamily="34" charset="0"/>
                <a:ea typeface="Segoe UI" pitchFamily="34" charset="-122"/>
                <a:cs typeface="Segoe UI" pitchFamily="34" charset="-120"/>
              </a:rPr>
              <a:t>HTML   •   CSS   •   JavaScript</a:t>
            </a:r>
            <a:endParaRPr lang="en-US" sz="900" dirty="0"/>
          </a:p>
        </p:txBody>
      </p:sp>
      <p:sp>
        <p:nvSpPr>
          <p:cNvPr id="15" name="Shape 13"/>
          <p:cNvSpPr/>
          <p:nvPr/>
        </p:nvSpPr>
        <p:spPr>
          <a:xfrm>
            <a:off x="640080" y="4297680"/>
            <a:ext cx="10515600" cy="1371600"/>
          </a:xfrm>
          <a:prstGeom prst="roundRect">
            <a:avLst>
              <a:gd name="adj" fmla="val 6667"/>
            </a:avLst>
          </a:prstGeom>
          <a:solidFill>
            <a:srgbClr val="F8FAFC"/>
          </a:solidFill>
          <a:ln w="12700">
            <a:solidFill>
              <a:srgbClr val="E2E8F0"/>
            </a:solidFill>
            <a:prstDash val="solid"/>
          </a:ln>
        </p:spPr>
      </p:sp>
      <p:sp>
        <p:nvSpPr>
          <p:cNvPr id="16" name="Shape 14"/>
          <p:cNvSpPr/>
          <p:nvPr/>
        </p:nvSpPr>
        <p:spPr>
          <a:xfrm>
            <a:off x="640080" y="4297680"/>
            <a:ext cx="54864" cy="1371600"/>
          </a:xfrm>
          <a:prstGeom prst="rect">
            <a:avLst/>
          </a:prstGeom>
          <a:solidFill>
            <a:srgbClr val="059669"/>
          </a:solidFill>
          <a:ln/>
        </p:spPr>
      </p:sp>
      <p:sp>
        <p:nvSpPr>
          <p:cNvPr id="17" name="Text 15"/>
          <p:cNvSpPr/>
          <p:nvPr/>
        </p:nvSpPr>
        <p:spPr>
          <a:xfrm>
            <a:off x="1005840" y="4389120"/>
            <a:ext cx="9601200" cy="27432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Apartement Mahata Tanjung Barat</a:t>
            </a:r>
            <a:endParaRPr lang="en-US" sz="1300" dirty="0"/>
          </a:p>
        </p:txBody>
      </p:sp>
      <p:sp>
        <p:nvSpPr>
          <p:cNvPr id="18" name="Text 16"/>
          <p:cNvSpPr/>
          <p:nvPr/>
        </p:nvSpPr>
        <p:spPr>
          <a:xfrm>
            <a:off x="1005840" y="4709160"/>
            <a:ext cx="9601200" cy="548640"/>
          </a:xfrm>
          <a:prstGeom prst="rect">
            <a:avLst/>
          </a:prstGeom>
          <a:noFill/>
          <a:ln/>
        </p:spPr>
        <p:txBody>
          <a:bodyPr wrap="square" rtlCol="0" anchor="ctr"/>
          <a:lstStyle/>
          <a:p>
            <a:pPr indent="0" marL="0">
              <a:lnSpc>
                <a:spcPct val="130000"/>
              </a:lnSpc>
              <a:buNone/>
            </a:pPr>
            <a:r>
              <a:rPr lang="en-US" sz="1000" dirty="0">
                <a:solidFill>
                  <a:srgbClr val="475569"/>
                </a:solidFill>
                <a:latin typeface="Segoe UI" pitchFamily="34" charset="0"/>
                <a:ea typeface="Segoe UI" pitchFamily="34" charset="-122"/>
                <a:cs typeface="Segoe UI" pitchFamily="34" charset="-120"/>
              </a:rPr>
              <a:t>Website pemasaran apartemen yang menampilkan informasi unit, fasilitas, virtual tour, galeri, dan sistem booking secara profesional dan responsif.</a:t>
            </a:r>
            <a:endParaRPr lang="en-US" sz="1000" dirty="0"/>
          </a:p>
        </p:txBody>
      </p:sp>
      <p:sp>
        <p:nvSpPr>
          <p:cNvPr id="19" name="Text 17"/>
          <p:cNvSpPr/>
          <p:nvPr/>
        </p:nvSpPr>
        <p:spPr>
          <a:xfrm>
            <a:off x="1005840" y="5303520"/>
            <a:ext cx="9601200" cy="228600"/>
          </a:xfrm>
          <a:prstGeom prst="rect">
            <a:avLst/>
          </a:prstGeom>
          <a:noFill/>
          <a:ln/>
        </p:spPr>
        <p:txBody>
          <a:bodyPr wrap="square" rtlCol="0" anchor="ctr"/>
          <a:lstStyle/>
          <a:p>
            <a:pPr indent="0" marL="0">
              <a:buNone/>
            </a:pPr>
            <a:r>
              <a:rPr lang="en-US" sz="900" b="1" dirty="0">
                <a:solidFill>
                  <a:srgbClr val="059669"/>
                </a:solidFill>
                <a:latin typeface="Segoe UI" pitchFamily="34" charset="0"/>
                <a:ea typeface="Segoe UI" pitchFamily="34" charset="-122"/>
                <a:cs typeface="Segoe UI" pitchFamily="34" charset="-120"/>
              </a:rPr>
              <a:t>HTML   •   CSS   •   JavaScript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2563EB"/>
          </a:solidFill>
          <a:ln/>
        </p:spPr>
      </p:sp>
      <p:sp>
        <p:nvSpPr>
          <p:cNvPr id="3" name="Text 1"/>
          <p:cNvSpPr/>
          <p:nvPr/>
        </p:nvSpPr>
        <p:spPr>
          <a:xfrm>
            <a:off x="640080" y="365760"/>
            <a:ext cx="4572000" cy="457200"/>
          </a:xfrm>
          <a:prstGeom prst="rect">
            <a:avLst/>
          </a:prstGeom>
          <a:noFill/>
          <a:ln/>
        </p:spPr>
        <p:txBody>
          <a:bodyPr wrap="square" rtlCol="0" anchor="ctr"/>
          <a:lstStyle/>
          <a:p>
            <a:pPr indent="0" marL="0">
              <a:buNone/>
            </a:pPr>
            <a:r>
              <a:rPr lang="en-US" sz="2400" b="1" dirty="0">
                <a:solidFill>
                  <a:srgbClr val="0F172A"/>
                </a:solidFill>
                <a:latin typeface="Segoe UI" pitchFamily="34" charset="0"/>
                <a:ea typeface="Segoe UI" pitchFamily="34" charset="-122"/>
                <a:cs typeface="Segoe UI" pitchFamily="34" charset="-120"/>
              </a:rPr>
              <a:t>Keahlian</a:t>
            </a:r>
            <a:endParaRPr lang="en-US" sz="2400" dirty="0"/>
          </a:p>
        </p:txBody>
      </p:sp>
      <p:sp>
        <p:nvSpPr>
          <p:cNvPr id="4" name="Shape 2"/>
          <p:cNvSpPr/>
          <p:nvPr/>
        </p:nvSpPr>
        <p:spPr>
          <a:xfrm>
            <a:off x="640080" y="868680"/>
            <a:ext cx="1097280" cy="36576"/>
          </a:xfrm>
          <a:prstGeom prst="rect">
            <a:avLst/>
          </a:prstGeom>
          <a:solidFill>
            <a:srgbClr val="2563EB"/>
          </a:solidFill>
          <a:ln/>
        </p:spPr>
      </p:sp>
      <p:sp>
        <p:nvSpPr>
          <p:cNvPr id="5" name="Shape 3"/>
          <p:cNvSpPr/>
          <p:nvPr/>
        </p:nvSpPr>
        <p:spPr>
          <a:xfrm>
            <a:off x="640080" y="1188720"/>
            <a:ext cx="3291840" cy="4572000"/>
          </a:xfrm>
          <a:prstGeom prst="roundRect">
            <a:avLst>
              <a:gd name="adj" fmla="val 2778"/>
            </a:avLst>
          </a:prstGeom>
          <a:solidFill>
            <a:srgbClr val="F8FAFC"/>
          </a:solidFill>
          <a:ln w="12700">
            <a:solidFill>
              <a:srgbClr val="E2E8F0"/>
            </a:solidFill>
            <a:prstDash val="solid"/>
          </a:ln>
        </p:spPr>
      </p:sp>
      <p:sp>
        <p:nvSpPr>
          <p:cNvPr id="6" name="Shape 4"/>
          <p:cNvSpPr/>
          <p:nvPr/>
        </p:nvSpPr>
        <p:spPr>
          <a:xfrm>
            <a:off x="640080" y="1188720"/>
            <a:ext cx="3291840" cy="54864"/>
          </a:xfrm>
          <a:prstGeom prst="rect">
            <a:avLst/>
          </a:prstGeom>
          <a:solidFill>
            <a:srgbClr val="2563EB"/>
          </a:solidFill>
          <a:ln/>
        </p:spPr>
      </p:sp>
      <p:sp>
        <p:nvSpPr>
          <p:cNvPr id="7" name="Text 5"/>
          <p:cNvSpPr/>
          <p:nvPr/>
        </p:nvSpPr>
        <p:spPr>
          <a:xfrm>
            <a:off x="914400" y="1417320"/>
            <a:ext cx="2743200" cy="320040"/>
          </a:xfrm>
          <a:prstGeom prst="rect">
            <a:avLst/>
          </a:prstGeom>
          <a:noFill/>
          <a:ln/>
        </p:spPr>
        <p:txBody>
          <a:bodyPr wrap="square"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Technical Skills</a:t>
            </a:r>
            <a:endParaRPr lang="en-US" sz="1400" dirty="0"/>
          </a:p>
        </p:txBody>
      </p:sp>
      <p:sp>
        <p:nvSpPr>
          <p:cNvPr id="8" name="Text 6"/>
          <p:cNvSpPr/>
          <p:nvPr/>
        </p:nvSpPr>
        <p:spPr>
          <a:xfrm>
            <a:off x="914400" y="1920240"/>
            <a:ext cx="2743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Desain Grafis Dasar</a:t>
            </a:r>
            <a:endParaRPr lang="en-US" sz="1100" dirty="0"/>
          </a:p>
        </p:txBody>
      </p:sp>
      <p:sp>
        <p:nvSpPr>
          <p:cNvPr id="9" name="Text 7"/>
          <p:cNvSpPr/>
          <p:nvPr/>
        </p:nvSpPr>
        <p:spPr>
          <a:xfrm>
            <a:off x="914400" y="2331720"/>
            <a:ext cx="2743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Pengolahan &amp; Input Data</a:t>
            </a:r>
            <a:endParaRPr lang="en-US" sz="1100" dirty="0"/>
          </a:p>
        </p:txBody>
      </p:sp>
      <p:sp>
        <p:nvSpPr>
          <p:cNvPr id="10" name="Text 8"/>
          <p:cNvSpPr/>
          <p:nvPr/>
        </p:nvSpPr>
        <p:spPr>
          <a:xfrm>
            <a:off x="914400" y="2743200"/>
            <a:ext cx="2743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Editing Gambar Digital</a:t>
            </a:r>
            <a:endParaRPr lang="en-US" sz="1100" dirty="0"/>
          </a:p>
        </p:txBody>
      </p:sp>
      <p:sp>
        <p:nvSpPr>
          <p:cNvPr id="11" name="Text 9"/>
          <p:cNvSpPr/>
          <p:nvPr/>
        </p:nvSpPr>
        <p:spPr>
          <a:xfrm>
            <a:off x="914400" y="3154680"/>
            <a:ext cx="2743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Tata Letak Aset Visual</a:t>
            </a:r>
            <a:endParaRPr lang="en-US" sz="1100" dirty="0"/>
          </a:p>
        </p:txBody>
      </p:sp>
      <p:sp>
        <p:nvSpPr>
          <p:cNvPr id="12" name="Shape 10"/>
          <p:cNvSpPr/>
          <p:nvPr/>
        </p:nvSpPr>
        <p:spPr>
          <a:xfrm>
            <a:off x="4206240" y="1188720"/>
            <a:ext cx="3291840" cy="4572000"/>
          </a:xfrm>
          <a:prstGeom prst="roundRect">
            <a:avLst>
              <a:gd name="adj" fmla="val 2778"/>
            </a:avLst>
          </a:prstGeom>
          <a:solidFill>
            <a:srgbClr val="F8FAFC"/>
          </a:solidFill>
          <a:ln w="12700">
            <a:solidFill>
              <a:srgbClr val="E2E8F0"/>
            </a:solidFill>
            <a:prstDash val="solid"/>
          </a:ln>
        </p:spPr>
      </p:sp>
      <p:sp>
        <p:nvSpPr>
          <p:cNvPr id="13" name="Shape 11"/>
          <p:cNvSpPr/>
          <p:nvPr/>
        </p:nvSpPr>
        <p:spPr>
          <a:xfrm>
            <a:off x="4206240" y="1188720"/>
            <a:ext cx="3291840" cy="54864"/>
          </a:xfrm>
          <a:prstGeom prst="rect">
            <a:avLst/>
          </a:prstGeom>
          <a:solidFill>
            <a:srgbClr val="7C3AED"/>
          </a:solidFill>
          <a:ln/>
        </p:spPr>
      </p:sp>
      <p:sp>
        <p:nvSpPr>
          <p:cNvPr id="14" name="Text 12"/>
          <p:cNvSpPr/>
          <p:nvPr/>
        </p:nvSpPr>
        <p:spPr>
          <a:xfrm>
            <a:off x="4480560" y="1417320"/>
            <a:ext cx="2743200" cy="320040"/>
          </a:xfrm>
          <a:prstGeom prst="rect">
            <a:avLst/>
          </a:prstGeom>
          <a:noFill/>
          <a:ln/>
        </p:spPr>
        <p:txBody>
          <a:bodyPr wrap="square"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Software &amp; Tools</a:t>
            </a:r>
            <a:endParaRPr lang="en-US" sz="1400" dirty="0"/>
          </a:p>
        </p:txBody>
      </p:sp>
      <p:sp>
        <p:nvSpPr>
          <p:cNvPr id="15" name="Text 13"/>
          <p:cNvSpPr/>
          <p:nvPr/>
        </p:nvSpPr>
        <p:spPr>
          <a:xfrm>
            <a:off x="4480560" y="1920240"/>
            <a:ext cx="2743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Adobe Illustrator</a:t>
            </a:r>
            <a:endParaRPr lang="en-US" sz="1100" dirty="0"/>
          </a:p>
        </p:txBody>
      </p:sp>
      <p:sp>
        <p:nvSpPr>
          <p:cNvPr id="16" name="Text 14"/>
          <p:cNvSpPr/>
          <p:nvPr/>
        </p:nvSpPr>
        <p:spPr>
          <a:xfrm>
            <a:off x="4480560" y="2331720"/>
            <a:ext cx="2743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Microsoft Word</a:t>
            </a:r>
            <a:endParaRPr lang="en-US" sz="1100" dirty="0"/>
          </a:p>
        </p:txBody>
      </p:sp>
      <p:sp>
        <p:nvSpPr>
          <p:cNvPr id="17" name="Text 15"/>
          <p:cNvSpPr/>
          <p:nvPr/>
        </p:nvSpPr>
        <p:spPr>
          <a:xfrm>
            <a:off x="4480560" y="2743200"/>
            <a:ext cx="2743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Microsoft Excel</a:t>
            </a:r>
            <a:endParaRPr lang="en-US" sz="1100" dirty="0"/>
          </a:p>
        </p:txBody>
      </p:sp>
      <p:sp>
        <p:nvSpPr>
          <p:cNvPr id="18" name="Text 16"/>
          <p:cNvSpPr/>
          <p:nvPr/>
        </p:nvSpPr>
        <p:spPr>
          <a:xfrm>
            <a:off x="4480560" y="3154680"/>
            <a:ext cx="2743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Microsoft PowerPoint</a:t>
            </a:r>
            <a:endParaRPr lang="en-US" sz="1100" dirty="0"/>
          </a:p>
        </p:txBody>
      </p:sp>
      <p:sp>
        <p:nvSpPr>
          <p:cNvPr id="19" name="Text 17"/>
          <p:cNvSpPr/>
          <p:nvPr/>
        </p:nvSpPr>
        <p:spPr>
          <a:xfrm>
            <a:off x="4480560" y="3566160"/>
            <a:ext cx="2743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Sistem Input Data Digital</a:t>
            </a:r>
            <a:endParaRPr lang="en-US" sz="1100" dirty="0"/>
          </a:p>
        </p:txBody>
      </p:sp>
      <p:sp>
        <p:nvSpPr>
          <p:cNvPr id="20" name="Shape 18"/>
          <p:cNvSpPr/>
          <p:nvPr/>
        </p:nvSpPr>
        <p:spPr>
          <a:xfrm>
            <a:off x="7772400" y="1188720"/>
            <a:ext cx="3291840" cy="4572000"/>
          </a:xfrm>
          <a:prstGeom prst="roundRect">
            <a:avLst>
              <a:gd name="adj" fmla="val 2778"/>
            </a:avLst>
          </a:prstGeom>
          <a:solidFill>
            <a:srgbClr val="F8FAFC"/>
          </a:solidFill>
          <a:ln w="12700">
            <a:solidFill>
              <a:srgbClr val="E2E8F0"/>
            </a:solidFill>
            <a:prstDash val="solid"/>
          </a:ln>
        </p:spPr>
      </p:sp>
      <p:sp>
        <p:nvSpPr>
          <p:cNvPr id="21" name="Shape 19"/>
          <p:cNvSpPr/>
          <p:nvPr/>
        </p:nvSpPr>
        <p:spPr>
          <a:xfrm>
            <a:off x="7772400" y="1188720"/>
            <a:ext cx="3291840" cy="54864"/>
          </a:xfrm>
          <a:prstGeom prst="rect">
            <a:avLst/>
          </a:prstGeom>
          <a:solidFill>
            <a:srgbClr val="D97706"/>
          </a:solidFill>
          <a:ln/>
        </p:spPr>
      </p:sp>
      <p:sp>
        <p:nvSpPr>
          <p:cNvPr id="22" name="Text 20"/>
          <p:cNvSpPr/>
          <p:nvPr/>
        </p:nvSpPr>
        <p:spPr>
          <a:xfrm>
            <a:off x="8046720" y="1417320"/>
            <a:ext cx="2743200" cy="320040"/>
          </a:xfrm>
          <a:prstGeom prst="rect">
            <a:avLst/>
          </a:prstGeom>
          <a:noFill/>
          <a:ln/>
        </p:spPr>
        <p:txBody>
          <a:bodyPr wrap="square"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Soft Skills</a:t>
            </a:r>
            <a:endParaRPr lang="en-US" sz="1400" dirty="0"/>
          </a:p>
        </p:txBody>
      </p:sp>
      <p:sp>
        <p:nvSpPr>
          <p:cNvPr id="23" name="Text 21"/>
          <p:cNvSpPr/>
          <p:nvPr/>
        </p:nvSpPr>
        <p:spPr>
          <a:xfrm>
            <a:off x="8046720" y="1920240"/>
            <a:ext cx="2743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Komunikasi yang baik</a:t>
            </a:r>
            <a:endParaRPr lang="en-US" sz="1100" dirty="0"/>
          </a:p>
        </p:txBody>
      </p:sp>
      <p:sp>
        <p:nvSpPr>
          <p:cNvPr id="24" name="Text 22"/>
          <p:cNvSpPr/>
          <p:nvPr/>
        </p:nvSpPr>
        <p:spPr>
          <a:xfrm>
            <a:off x="8046720" y="2331720"/>
            <a:ext cx="2743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Kerja sama tim</a:t>
            </a:r>
            <a:endParaRPr lang="en-US" sz="1100" dirty="0"/>
          </a:p>
        </p:txBody>
      </p:sp>
      <p:sp>
        <p:nvSpPr>
          <p:cNvPr id="25" name="Text 23"/>
          <p:cNvSpPr/>
          <p:nvPr/>
        </p:nvSpPr>
        <p:spPr>
          <a:xfrm>
            <a:off x="8046720" y="2743200"/>
            <a:ext cx="2743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Manajemen waktu</a:t>
            </a:r>
            <a:endParaRPr lang="en-US" sz="1100" dirty="0"/>
          </a:p>
        </p:txBody>
      </p:sp>
      <p:sp>
        <p:nvSpPr>
          <p:cNvPr id="26" name="Text 24"/>
          <p:cNvSpPr/>
          <p:nvPr/>
        </p:nvSpPr>
        <p:spPr>
          <a:xfrm>
            <a:off x="8046720" y="3154680"/>
            <a:ext cx="2743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Teliti &amp; rapi dalam bekerja</a:t>
            </a:r>
            <a:endParaRPr lang="en-US" sz="1100" dirty="0"/>
          </a:p>
        </p:txBody>
      </p:sp>
      <p:sp>
        <p:nvSpPr>
          <p:cNvPr id="27" name="Text 25"/>
          <p:cNvSpPr/>
          <p:nvPr/>
        </p:nvSpPr>
        <p:spPr>
          <a:xfrm>
            <a:off x="8046720" y="3566160"/>
            <a:ext cx="2743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Cepat beradaptasi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2563EB"/>
          </a:solidFill>
          <a:ln/>
        </p:spPr>
      </p:sp>
      <p:sp>
        <p:nvSpPr>
          <p:cNvPr id="3" name="Text 1"/>
          <p:cNvSpPr/>
          <p:nvPr/>
        </p:nvSpPr>
        <p:spPr>
          <a:xfrm>
            <a:off x="640080" y="365760"/>
            <a:ext cx="4572000" cy="457200"/>
          </a:xfrm>
          <a:prstGeom prst="rect">
            <a:avLst/>
          </a:prstGeom>
          <a:noFill/>
          <a:ln/>
        </p:spPr>
        <p:txBody>
          <a:bodyPr wrap="square" rtlCol="0" anchor="ctr"/>
          <a:lstStyle/>
          <a:p>
            <a:pPr indent="0" marL="0">
              <a:buNone/>
            </a:pPr>
            <a:r>
              <a:rPr lang="en-US" sz="2400" b="1" dirty="0">
                <a:solidFill>
                  <a:srgbClr val="0F172A"/>
                </a:solidFill>
                <a:latin typeface="Segoe UI" pitchFamily="34" charset="0"/>
                <a:ea typeface="Segoe UI" pitchFamily="34" charset="-122"/>
                <a:cs typeface="Segoe UI" pitchFamily="34" charset="-120"/>
              </a:rPr>
              <a:t>Sertifikat Resmi</a:t>
            </a:r>
            <a:endParaRPr lang="en-US" sz="2400" dirty="0"/>
          </a:p>
        </p:txBody>
      </p:sp>
      <p:sp>
        <p:nvSpPr>
          <p:cNvPr id="4" name="Shape 2"/>
          <p:cNvSpPr/>
          <p:nvPr/>
        </p:nvSpPr>
        <p:spPr>
          <a:xfrm>
            <a:off x="640080" y="868680"/>
            <a:ext cx="1097280" cy="36576"/>
          </a:xfrm>
          <a:prstGeom prst="rect">
            <a:avLst/>
          </a:prstGeom>
          <a:solidFill>
            <a:srgbClr val="2563EB"/>
          </a:solidFill>
          <a:ln/>
        </p:spPr>
      </p:sp>
      <p:sp>
        <p:nvSpPr>
          <p:cNvPr id="5" name="Shape 3"/>
          <p:cNvSpPr/>
          <p:nvPr/>
        </p:nvSpPr>
        <p:spPr>
          <a:xfrm>
            <a:off x="640080" y="1280160"/>
            <a:ext cx="5029200" cy="2286000"/>
          </a:xfrm>
          <a:prstGeom prst="roundRect">
            <a:avLst>
              <a:gd name="adj" fmla="val 4000"/>
            </a:avLst>
          </a:prstGeom>
          <a:solidFill>
            <a:srgbClr val="F8FAFC"/>
          </a:solidFill>
          <a:ln w="12700">
            <a:solidFill>
              <a:srgbClr val="E2E8F0"/>
            </a:solidFill>
            <a:prstDash val="solid"/>
          </a:ln>
        </p:spPr>
      </p:sp>
      <p:sp>
        <p:nvSpPr>
          <p:cNvPr id="6" name="Shape 4"/>
          <p:cNvSpPr/>
          <p:nvPr/>
        </p:nvSpPr>
        <p:spPr>
          <a:xfrm>
            <a:off x="640080" y="1280160"/>
            <a:ext cx="54864" cy="2286000"/>
          </a:xfrm>
          <a:prstGeom prst="rect">
            <a:avLst/>
          </a:prstGeom>
          <a:solidFill>
            <a:srgbClr val="2563EB"/>
          </a:solidFill>
          <a:ln/>
        </p:spPr>
      </p:sp>
      <p:sp>
        <p:nvSpPr>
          <p:cNvPr id="7" name="Text 5"/>
          <p:cNvSpPr/>
          <p:nvPr/>
        </p:nvSpPr>
        <p:spPr>
          <a:xfrm>
            <a:off x="914400" y="1463040"/>
            <a:ext cx="457200" cy="45720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8" name="Text 6"/>
          <p:cNvSpPr/>
          <p:nvPr/>
        </p:nvSpPr>
        <p:spPr>
          <a:xfrm>
            <a:off x="914400" y="2011680"/>
            <a:ext cx="4389120" cy="45720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Sertifikat Praktik Kerja Lapangan (PKL)</a:t>
            </a:r>
            <a:endParaRPr lang="en-US" sz="1300" dirty="0"/>
          </a:p>
        </p:txBody>
      </p:sp>
      <p:sp>
        <p:nvSpPr>
          <p:cNvPr id="9" name="Text 7"/>
          <p:cNvSpPr/>
          <p:nvPr/>
        </p:nvSpPr>
        <p:spPr>
          <a:xfrm>
            <a:off x="914400" y="2468880"/>
            <a:ext cx="4389120" cy="274320"/>
          </a:xfrm>
          <a:prstGeom prst="rect">
            <a:avLst/>
          </a:prstGeom>
          <a:noFill/>
          <a:ln/>
        </p:spPr>
        <p:txBody>
          <a:bodyPr wrap="square" rtlCol="0" anchor="ctr"/>
          <a:lstStyle/>
          <a:p>
            <a:pPr indent="0" marL="0">
              <a:buNone/>
            </a:pPr>
            <a:r>
              <a:rPr lang="en-US" sz="1100" dirty="0">
                <a:solidFill>
                  <a:srgbClr val="2563EB"/>
                </a:solidFill>
                <a:latin typeface="Segoe UI" pitchFamily="34" charset="0"/>
                <a:ea typeface="Segoe UI" pitchFamily="34" charset="-122"/>
                <a:cs typeface="Segoe UI" pitchFamily="34" charset="-120"/>
              </a:rPr>
              <a:t>Jakarta Global University</a:t>
            </a:r>
            <a:endParaRPr lang="en-US" sz="1100" dirty="0"/>
          </a:p>
        </p:txBody>
      </p:sp>
      <p:sp>
        <p:nvSpPr>
          <p:cNvPr id="10" name="Text 8"/>
          <p:cNvSpPr/>
          <p:nvPr/>
        </p:nvSpPr>
        <p:spPr>
          <a:xfrm>
            <a:off x="914400" y="2834640"/>
            <a:ext cx="438912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Status: Tersedia</a:t>
            </a:r>
            <a:endParaRPr lang="en-US" sz="1000" dirty="0"/>
          </a:p>
        </p:txBody>
      </p:sp>
      <p:sp>
        <p:nvSpPr>
          <p:cNvPr id="11" name="Shape 9"/>
          <p:cNvSpPr/>
          <p:nvPr/>
        </p:nvSpPr>
        <p:spPr>
          <a:xfrm>
            <a:off x="6035040" y="1280160"/>
            <a:ext cx="5029200" cy="2286000"/>
          </a:xfrm>
          <a:prstGeom prst="roundRect">
            <a:avLst>
              <a:gd name="adj" fmla="val 4000"/>
            </a:avLst>
          </a:prstGeom>
          <a:solidFill>
            <a:srgbClr val="F8FAFC"/>
          </a:solidFill>
          <a:ln w="12700">
            <a:solidFill>
              <a:srgbClr val="E2E8F0"/>
            </a:solidFill>
            <a:prstDash val="solid"/>
          </a:ln>
        </p:spPr>
      </p:sp>
      <p:sp>
        <p:nvSpPr>
          <p:cNvPr id="12" name="Shape 10"/>
          <p:cNvSpPr/>
          <p:nvPr/>
        </p:nvSpPr>
        <p:spPr>
          <a:xfrm>
            <a:off x="6035040" y="1280160"/>
            <a:ext cx="54864" cy="2286000"/>
          </a:xfrm>
          <a:prstGeom prst="rect">
            <a:avLst/>
          </a:prstGeom>
          <a:solidFill>
            <a:srgbClr val="7C3AED"/>
          </a:solidFill>
          <a:ln/>
        </p:spPr>
      </p:sp>
      <p:sp>
        <p:nvSpPr>
          <p:cNvPr id="13" name="Text 11"/>
          <p:cNvSpPr/>
          <p:nvPr/>
        </p:nvSpPr>
        <p:spPr>
          <a:xfrm>
            <a:off x="6309360" y="1463040"/>
            <a:ext cx="457200" cy="45720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4" name="Text 12"/>
          <p:cNvSpPr/>
          <p:nvPr/>
        </p:nvSpPr>
        <p:spPr>
          <a:xfrm>
            <a:off x="6309360" y="2011680"/>
            <a:ext cx="4389120" cy="45720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Sertifikat Kompetensi Desain Komunikasi Visual</a:t>
            </a:r>
            <a:endParaRPr lang="en-US" sz="1300" dirty="0"/>
          </a:p>
        </p:txBody>
      </p:sp>
      <p:sp>
        <p:nvSpPr>
          <p:cNvPr id="15" name="Text 13"/>
          <p:cNvSpPr/>
          <p:nvPr/>
        </p:nvSpPr>
        <p:spPr>
          <a:xfrm>
            <a:off x="6309360" y="2468880"/>
            <a:ext cx="4389120" cy="274320"/>
          </a:xfrm>
          <a:prstGeom prst="rect">
            <a:avLst/>
          </a:prstGeom>
          <a:noFill/>
          <a:ln/>
        </p:spPr>
        <p:txBody>
          <a:bodyPr wrap="square" rtlCol="0" anchor="ctr"/>
          <a:lstStyle/>
          <a:p>
            <a:pPr indent="0" marL="0">
              <a:buNone/>
            </a:pPr>
            <a:r>
              <a:rPr lang="en-US" sz="1100" dirty="0">
                <a:solidFill>
                  <a:srgbClr val="7C3AED"/>
                </a:solidFill>
                <a:latin typeface="Segoe UI" pitchFamily="34" charset="0"/>
                <a:ea typeface="Segoe UI" pitchFamily="34" charset="-122"/>
                <a:cs typeface="Segoe UI" pitchFamily="34" charset="-120"/>
              </a:rPr>
              <a:t>Uji Kompetensi Keahlian</a:t>
            </a:r>
            <a:endParaRPr lang="en-US" sz="1100" dirty="0"/>
          </a:p>
        </p:txBody>
      </p:sp>
      <p:sp>
        <p:nvSpPr>
          <p:cNvPr id="16" name="Text 14"/>
          <p:cNvSpPr/>
          <p:nvPr/>
        </p:nvSpPr>
        <p:spPr>
          <a:xfrm>
            <a:off x="6309360" y="2834640"/>
            <a:ext cx="438912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Status: Tersedia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2563EB"/>
          </a:solidFill>
          <a:ln/>
        </p:spPr>
      </p:sp>
      <p:sp>
        <p:nvSpPr>
          <p:cNvPr id="3" name="Text 1"/>
          <p:cNvSpPr/>
          <p:nvPr/>
        </p:nvSpPr>
        <p:spPr>
          <a:xfrm>
            <a:off x="731520" y="1371600"/>
            <a:ext cx="9144000" cy="731520"/>
          </a:xfrm>
          <a:prstGeom prst="rect">
            <a:avLst/>
          </a:prstGeom>
          <a:noFill/>
          <a:ln/>
        </p:spPr>
        <p:txBody>
          <a:bodyPr wrap="square" rtlCol="0" anchor="ctr"/>
          <a:lstStyle/>
          <a:p>
            <a:pPr indent="0" marL="0">
              <a:buNone/>
            </a:pPr>
            <a:r>
              <a:rPr lang="en-US" sz="3600" b="1" dirty="0">
                <a:solidFill>
                  <a:srgbClr val="FFFFFF"/>
                </a:solidFill>
                <a:latin typeface="Segoe UI" pitchFamily="34" charset="0"/>
                <a:ea typeface="Segoe UI" pitchFamily="34" charset="-122"/>
                <a:cs typeface="Segoe UI" pitchFamily="34" charset="-120"/>
              </a:rPr>
              <a:t>Terima Kasih</a:t>
            </a:r>
            <a:endParaRPr lang="en-US" sz="3600" dirty="0"/>
          </a:p>
        </p:txBody>
      </p:sp>
      <p:sp>
        <p:nvSpPr>
          <p:cNvPr id="4" name="Text 2"/>
          <p:cNvSpPr/>
          <p:nvPr/>
        </p:nvSpPr>
        <p:spPr>
          <a:xfrm>
            <a:off x="731520" y="2103120"/>
            <a:ext cx="9144000" cy="457200"/>
          </a:xfrm>
          <a:prstGeom prst="rect">
            <a:avLst/>
          </a:prstGeom>
          <a:noFill/>
          <a:ln/>
        </p:spPr>
        <p:txBody>
          <a:bodyPr wrap="square" rtlCol="0" anchor="ctr"/>
          <a:lstStyle/>
          <a:p>
            <a:pPr indent="0" marL="0">
              <a:buNone/>
            </a:pPr>
            <a:r>
              <a:rPr lang="en-US" sz="1400" dirty="0">
                <a:solidFill>
                  <a:srgbClr val="94A3B8"/>
                </a:solidFill>
                <a:latin typeface="Segoe UI" pitchFamily="34" charset="0"/>
                <a:ea typeface="Segoe UI" pitchFamily="34" charset="-122"/>
                <a:cs typeface="Segoe UI" pitchFamily="34" charset="-120"/>
              </a:rPr>
              <a:t>Tertarik bekerja sama? Hubungi saya melalui kontak di bawah ini.</a:t>
            </a:r>
            <a:endParaRPr lang="en-US" sz="1400" dirty="0"/>
          </a:p>
        </p:txBody>
      </p:sp>
      <p:sp>
        <p:nvSpPr>
          <p:cNvPr id="5" name="Shape 3"/>
          <p:cNvSpPr/>
          <p:nvPr/>
        </p:nvSpPr>
        <p:spPr>
          <a:xfrm>
            <a:off x="731520" y="2834640"/>
            <a:ext cx="1828800" cy="36576"/>
          </a:xfrm>
          <a:prstGeom prst="rect">
            <a:avLst/>
          </a:prstGeom>
          <a:solidFill>
            <a:srgbClr val="2563EB"/>
          </a:solidFill>
          <a:ln/>
        </p:spPr>
      </p:sp>
      <p:sp>
        <p:nvSpPr>
          <p:cNvPr id="6" name="Text 4"/>
          <p:cNvSpPr/>
          <p:nvPr/>
        </p:nvSpPr>
        <p:spPr>
          <a:xfrm>
            <a:off x="731520" y="3108960"/>
            <a:ext cx="5486400" cy="1828800"/>
          </a:xfrm>
          <a:prstGeom prst="rect">
            <a:avLst/>
          </a:prstGeom>
          <a:noFill/>
          <a:ln/>
        </p:spPr>
        <p:txBody>
          <a:bodyPr wrap="square" rtlCol="0" anchor="ctr"/>
          <a:lstStyle/>
          <a:p>
            <a:pPr indent="0" marL="0">
              <a:lnSpc>
                <a:spcPct val="160000"/>
              </a:lnSpc>
              <a:buNone/>
            </a:pPr>
            <a:r>
              <a:rPr lang="en-US" sz="1300" dirty="0">
                <a:solidFill>
                  <a:srgbClr val="94A3B8"/>
                </a:solidFill>
                <a:latin typeface="Segoe UI" pitchFamily="34" charset="0"/>
                <a:ea typeface="Segoe UI" pitchFamily="34" charset="-122"/>
                <a:cs typeface="Segoe UI" pitchFamily="34" charset="-120"/>
              </a:rPr>
              <a:t>📧  Willyalfalfa0203@gmail.com</a:t>
            </a:r>
            <a:endParaRPr lang="en-US" sz="1300" dirty="0"/>
          </a:p>
          <a:p>
            <a:pPr indent="0" marL="0">
              <a:lnSpc>
                <a:spcPct val="160000"/>
              </a:lnSpc>
              <a:buNone/>
            </a:pPr>
            <a:r>
              <a:rPr lang="en-US" sz="1300" dirty="0">
                <a:solidFill>
                  <a:srgbClr val="94A3B8"/>
                </a:solidFill>
                <a:latin typeface="Segoe UI" pitchFamily="34" charset="0"/>
                <a:ea typeface="Segoe UI" pitchFamily="34" charset="-122"/>
                <a:cs typeface="Segoe UI" pitchFamily="34" charset="-120"/>
              </a:rPr>
              <a:t>📱  (+62) 858-9990-2707</a:t>
            </a:r>
            <a:endParaRPr lang="en-US" sz="1300" dirty="0"/>
          </a:p>
          <a:p>
            <a:pPr indent="0" marL="0">
              <a:lnSpc>
                <a:spcPct val="160000"/>
              </a:lnSpc>
              <a:buNone/>
            </a:pPr>
            <a:r>
              <a:rPr lang="en-US" sz="1300" dirty="0">
                <a:solidFill>
                  <a:srgbClr val="94A3B8"/>
                </a:solidFill>
                <a:latin typeface="Segoe UI" pitchFamily="34" charset="0"/>
                <a:ea typeface="Segoe UI" pitchFamily="34" charset="-122"/>
                <a:cs typeface="Segoe UI" pitchFamily="34" charset="-120"/>
              </a:rPr>
              <a:t>📍  Jakarta Timur, DKI Jakarta</a:t>
            </a:r>
            <a:endParaRPr lang="en-US" sz="1300" dirty="0"/>
          </a:p>
          <a:p>
            <a:pPr indent="0" marL="0">
              <a:lnSpc>
                <a:spcPct val="160000"/>
              </a:lnSpc>
              <a:buNone/>
            </a:pPr>
            <a:r>
              <a:rPr lang="en-US" sz="1300" dirty="0">
                <a:solidFill>
                  <a:srgbClr val="94A3B8"/>
                </a:solidFill>
                <a:latin typeface="Segoe UI" pitchFamily="34" charset="0"/>
                <a:ea typeface="Segoe UI" pitchFamily="34" charset="-122"/>
                <a:cs typeface="Segoe UI" pitchFamily="34" charset="-120"/>
              </a:rPr>
              <a:t>🔗  github.com/Welly-23</a:t>
            </a:r>
            <a:endParaRPr lang="en-US" sz="1300" dirty="0"/>
          </a:p>
        </p:txBody>
      </p:sp>
      <p:sp>
        <p:nvSpPr>
          <p:cNvPr id="7" name="Text 5"/>
          <p:cNvSpPr/>
          <p:nvPr/>
        </p:nvSpPr>
        <p:spPr>
          <a:xfrm>
            <a:off x="731520" y="5852160"/>
            <a:ext cx="457200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 2026 Willy Alfalfa 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Portfolio - Willy Alfalfa S</dc:title>
  <dc:subject>Curriculum Vitae &amp; Portfolio</dc:subject>
  <dc:creator>Willy Alfalfa S</dc:creator>
  <cp:lastModifiedBy>Willy Alfalfa S</cp:lastModifiedBy>
  <cp:revision>1</cp:revision>
  <dcterms:created xsi:type="dcterms:W3CDTF">2026-10-07T14:25:56Z</dcterms:created>
  <dcterms:modified xsi:type="dcterms:W3CDTF">2026-10-07T14:25:56Z</dcterms:modified>
</cp:coreProperties>
</file>